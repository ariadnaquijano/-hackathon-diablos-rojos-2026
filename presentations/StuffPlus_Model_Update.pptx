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148110e2e64744" /><Relationship Type="http://schemas.openxmlformats.org/officeDocument/2006/relationships/extended-properties" Target="/docProps/app.xml" Id="R38645249a79c474d" /><Relationship Type="http://schemas.openxmlformats.org/officeDocument/2006/relationships/officeDocument" Target="/ppt/presentation.xml" Id="Re1fe60095c1f49ec" /></Relationships>
</file>

<file path=ppt/presentation.xml><?xml version="1.0" encoding="utf-8"?>
<p:presentation xmlns:p="http://schemas.openxmlformats.org/presentationml/2006/main">
  <p:sldMasterIdLst>
    <p:sldMasterId xmlns:r="http://schemas.openxmlformats.org/officeDocument/2006/relationships" id="2147483648" r:id="Re64efb47f4e645bd"/>
  </p:sldMasterIdLst>
  <p:notesMasterIdLst>
    <p:notesMasterId xmlns:r="http://schemas.openxmlformats.org/officeDocument/2006/relationships" r:id="R9ba6c116e2c441d1"/>
  </p:notesMasterIdLst>
  <p:sldIdLst>
    <p:sldId xmlns:r="http://schemas.openxmlformats.org/officeDocument/2006/relationships" id="256" r:id="R15601da2c6984e50"/>
    <p:sldId xmlns:r="http://schemas.openxmlformats.org/officeDocument/2006/relationships" id="257" r:id="R9becb20c34dc45b2"/>
    <p:sldId xmlns:r="http://schemas.openxmlformats.org/officeDocument/2006/relationships" id="258" r:id="Rdf7a8b7673c94029"/>
    <p:sldId xmlns:r="http://schemas.openxmlformats.org/officeDocument/2006/relationships" id="259" r:id="R214602dbcaa447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e729fe0b824f10" /><Relationship Type="http://schemas.openxmlformats.org/officeDocument/2006/relationships/slideMaster" Target="/ppt/slideMasters/slideMaster1.xml" Id="Re64efb47f4e645bd" /><Relationship Type="http://schemas.openxmlformats.org/officeDocument/2006/relationships/notesMaster" Target="/ppt/notesMasters/notesMaster1.xml" Id="R9ba6c116e2c441d1" /><Relationship Type="http://schemas.openxmlformats.org/officeDocument/2006/relationships/presProps" Target="/ppt/presProps.xml" Id="R0fa057dfa2f240b4" /><Relationship Type="http://schemas.openxmlformats.org/officeDocument/2006/relationships/tableStyles" Target="/ppt/tableStyles.xml" Id="R8ada8c85bb6246aa" /><Relationship Type="http://schemas.openxmlformats.org/officeDocument/2006/relationships/slide" Target="/ppt/slides/slide1.xml" Id="R15601da2c6984e50" /><Relationship Type="http://schemas.openxmlformats.org/officeDocument/2006/relationships/slide" Target="/ppt/slides/slide2.xml" Id="R9becb20c34dc45b2" /><Relationship Type="http://schemas.openxmlformats.org/officeDocument/2006/relationships/slide" Target="/ppt/slides/slide3.xml" Id="Rdf7a8b7673c94029" /><Relationship Type="http://schemas.openxmlformats.org/officeDocument/2006/relationships/slide" Target="/ppt/slides/slide4.xml" Id="R214602dbcaa447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16f3bd0d4141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c059b7a7714d87" /><Relationship Type="http://schemas.openxmlformats.org/officeDocument/2006/relationships/notesMaster" Target="/ppt/notesMasters/notesMaster1.xml" Id="R90290268a4804c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55c82bc453487f" /><Relationship Type="http://schemas.openxmlformats.org/officeDocument/2006/relationships/notesMaster" Target="/ppt/notesMasters/notesMaster1.xml" Id="R7c864598dcdd48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f416b87407459d" /><Relationship Type="http://schemas.openxmlformats.org/officeDocument/2006/relationships/notesMaster" Target="/ppt/notesMasters/notesMaster1.xml" Id="R64afef9740994e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b35b5414284862" /><Relationship Type="http://schemas.openxmlformats.org/officeDocument/2006/relationships/notesMaster" Target="/ppt/notesMasters/notesMaster1.xml" Id="R87a64e7aab0748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run report and artifacts/stuffplus_v1/validation_metrics.csv; docs/STUFFPLUS_MODEL_GUIDE.md. Pitch counts refer to all eligible scored pitches; validation metrics use only pitches with usable labels. Explain that the run is an experimental prototype, not a production scouting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docs/STUFFPLUS_MODEL_GUIDE.md, sections on context adjustment, normalization, and altitude scenarios. The model has seven physical pitch families. IVB and HB denote induced vertical and horizontal break. The score scale is common within pitch family; overall summaries combine family-relative scores using pitch usage. Context adjustment is statistical. Altitude labels correspond to categories, not exact elevations or stadiums.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artifacts/stuffplus_v1/validation_metrics.csv and docs/STUFFPLUS_MODEL_GUIDE.md. Historical evaluation uses pitcher-held-out out-of-fold predictions; 2026 is a season holdout, but 2026 has already been explored elsewhere in this team project, so do not call it an untouched competition test. The context adjustment is common across competitors. RMSE values are on the adjusted run-value scale. Lower is better. Historical XGB-vs-linear paired relative MSE-gain interval is negative (−0.0000610 to −0.0000432), supporting the small linear advantage.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recomputed pitch-level altitude scenario summary from the project artifacts, with delta and 95% intervals clustered by game (300 bootstrap replicates, seed 2026); the intervals are conditional on fitted models. Values are extreme-altitude minus no-altitude Stuff+ points. The same source pitches are transported by predicting IVB/HB and then rescoring. This is observational, not causal. The interval reflects game-sampling uncertainty, not all model, cleaning, or extrapolation uncertainty. Summary aggregation is pitch-weighted.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b9837a5e2141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3f21e4439642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bf37d24dc145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3ea57c29164a4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202e8cecac4f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c29cf7b8f64e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A3A5F6-3878-424A-8B88-36132D48107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5ECD05-5437-4008-AE53-B9827780F7E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DD7D98E-556E-412F-B77B-0EFDCE108F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1155D0-2845-47B0-816B-054A27DAE0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F90464-028D-45B1-A999-15D27CF5716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4C75D7-79E3-4B91-81E9-7F4BD9176B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190E7D-D934-4FE4-8321-DA3EAF0A57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087497-3ADB-4C92-B1C9-7CA036D919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76E471-04FF-498A-8805-AA4BA5ACFE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7AD833-522D-4EB8-A8A6-817CA12504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fb04ce15d44fed" /><Relationship Type="http://schemas.openxmlformats.org/officeDocument/2006/relationships/slideLayout" Target="/ppt/slideLayouts/slideLayout1.xml" Id="R4efd60eac72c4ba3" /><Relationship Type="http://schemas.openxmlformats.org/officeDocument/2006/relationships/slideLayout" Target="/ppt/slideLayouts/slideLayout2.xml" Id="R7d374590d2384250" /><Relationship Type="http://schemas.openxmlformats.org/officeDocument/2006/relationships/slideLayout" Target="/ppt/slideLayouts/slideLayout3.xml" Id="R301c39f722d641dd" /><Relationship Type="http://schemas.openxmlformats.org/officeDocument/2006/relationships/slideLayout" Target="/ppt/slideLayouts/slideLayout4.xml" Id="R7df6a76739504fea" /><Relationship Type="http://schemas.openxmlformats.org/officeDocument/2006/relationships/slideLayout" Target="/ppt/slideLayouts/slideLayout5.xml" Id="R1be73e5cd711413e" /><Relationship Type="http://schemas.openxmlformats.org/officeDocument/2006/relationships/slideLayout" Target="/ppt/slideLayouts/slideLayout6.xml" Id="Rb5ac4d3f659740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fd60eac72c4ba3"/>
    <p:sldLayoutId xmlns:r="http://schemas.openxmlformats.org/officeDocument/2006/relationships" id="2147483650" r:id="R7d374590d2384250"/>
    <p:sldLayoutId xmlns:r="http://schemas.openxmlformats.org/officeDocument/2006/relationships" id="2147483651" r:id="R301c39f722d641dd"/>
    <p:sldLayoutId xmlns:r="http://schemas.openxmlformats.org/officeDocument/2006/relationships" id="2147483652" r:id="R7df6a76739504fea"/>
    <p:sldLayoutId xmlns:r="http://schemas.openxmlformats.org/officeDocument/2006/relationships" id="2147483653" r:id="R1be73e5cd711413e"/>
    <p:sldLayoutId xmlns:r="http://schemas.openxmlformats.org/officeDocument/2006/relationships" id="2147483654" r:id="Rb5ac4d3f659740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c2c702d94645e4" /><Relationship Type="http://schemas.openxmlformats.org/officeDocument/2006/relationships/notesSlide" Target="/ppt/notesSlides/notesSlide1.xml" Id="R98174a238c6541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738a4ee3ea40b8" /><Relationship Type="http://schemas.openxmlformats.org/officeDocument/2006/relationships/notesSlide" Target="/ppt/notesSlides/notesSlide2.xml" Id="Redd23c8d2b674a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88baf5ce6f4a6d" /><Relationship Type="http://schemas.openxmlformats.org/officeDocument/2006/relationships/notesSlide" Target="/ppt/notesSlides/notesSlide3.xml" Id="R66349280c75d44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1bc681410d4c01" /><Relationship Type="http://schemas.openxmlformats.org/officeDocument/2006/relationships/notesSlide" Target="/ppt/notesSlides/notesSlide4.xml" Id="Ra36436c44d0a452b"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A9BDC86-2AB2-484D-95DC-4490CB460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2" name="">
            <a:extLst xmlns:a="http://schemas.openxmlformats.org/drawingml/2006/main">
              <a:ext uri="{FF2B5EF4-FFF2-40B4-BE49-F238E27FC236}">
                <a16:creationId xmlns:a16="http://schemas.microsoft.com/office/drawing/2014/main" id="{9E3E0816-C166-4974-995D-A673D34281B7}"/>
              </a:ext>
            </a:extLst>
          </p:cNvPr>
          <p:cNvSpPr>
            <a:spLocks xmlns:a="http://schemas.openxmlformats.org/drawingml/2006/main" noGrp="1"/>
          </p:cNvSpPr>
          <p:nvPr/>
        </p:nvSpPr>
        <p:spPr>
          <a:xfrm xmlns:a="http://schemas.openxmlformats.org/drawingml/2006/main">
            <a:off x="552450" y="304800"/>
            <a:ext cx="110490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D64045"/>
                </a:solidFill>
                <a:latin typeface="Arial"/>
                <a:ea typeface="Arial"/>
                <a:cs typeface="Arial"/>
              </a:defRPr>
            </a:defPPr>
          </a:lstStyle>
          <a:p xmlns:a="http://schemas.openxmlformats.org/drawingml/2006/main">
            <a:pPr algn="l">
              <a:defRPr sz="1050" b="1">
                <a:solidFill>
                  <a:srgbClr val="D64045"/>
                </a:solidFill>
                <a:latin typeface="Arial"/>
                <a:ea typeface="Arial"/>
                <a:cs typeface="Arial"/>
              </a:defRPr>
            </a:pPr>
            <a:r>
              <a:rPr sz="1050" b="1">
                <a:solidFill>
                  <a:srgbClr val="D64045"/>
                </a:solidFill>
                <a:latin typeface="Arial"/>
                <a:ea typeface="Arial"/>
                <a:cs typeface="Arial"/>
              </a:rPr>
              <a:t>MEETING UPDATE</a:t>
            </a:r>
          </a:p>
        </p:txBody>
      </p:sp>
      <p:sp>
        <p:nvSpPr>
          <p:cNvPr id="3" name="">
            <a:extLst xmlns:a="http://schemas.openxmlformats.org/drawingml/2006/main">
              <a:ext uri="{FF2B5EF4-FFF2-40B4-BE49-F238E27FC236}">
                <a16:creationId xmlns:a16="http://schemas.microsoft.com/office/drawing/2014/main" id="{B1430F0C-534E-4090-BB93-037C162E2328}"/>
              </a:ext>
            </a:extLst>
          </p:cNvPr>
          <p:cNvSpPr>
            <a:spLocks xmlns:a="http://schemas.openxmlformats.org/drawingml/2006/main" noGrp="1"/>
          </p:cNvSpPr>
          <p:nvPr/>
        </p:nvSpPr>
        <p:spPr>
          <a:xfrm xmlns:a="http://schemas.openxmlformats.org/drawingml/2006/main">
            <a:off x="552450" y="619125"/>
            <a:ext cx="110490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2550" b="1">
                <a:solidFill>
                  <a:srgbClr val="102A43"/>
                </a:solidFill>
                <a:latin typeface="Arial"/>
                <a:ea typeface="Arial"/>
                <a:cs typeface="Arial"/>
              </a:defRPr>
            </a:defPPr>
          </a:lstStyle>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A working Stuff+ pipeline — with an important model-selection result</a:t>
            </a:r>
          </a:p>
        </p:txBody>
      </p:sp>
      <p:sp>
        <p:nvSpPr>
          <p:cNvPr id="4" name="">
            <a:extLst xmlns:a="http://schemas.openxmlformats.org/drawingml/2006/main">
              <a:ext uri="{FF2B5EF4-FFF2-40B4-BE49-F238E27FC236}">
                <a16:creationId xmlns:a16="http://schemas.microsoft.com/office/drawing/2014/main" id="{65E8EA68-4A03-426E-B6EE-BCBF86E012C1}"/>
              </a:ext>
            </a:extLst>
          </p:cNvPr>
          <p:cNvSpPr>
            <a:spLocks xmlns:a="http://schemas.openxmlformats.org/drawingml/2006/main" noGrp="1"/>
          </p:cNvSpPr>
          <p:nvPr/>
        </p:nvSpPr>
        <p:spPr>
          <a:xfrm xmlns:a="http://schemas.openxmlformats.org/drawingml/2006/main">
            <a:off x="552450" y="1171575"/>
            <a:ext cx="110490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75" b="0">
                <a:solidFill>
                  <a:srgbClr val="536471"/>
                </a:solidFill>
                <a:latin typeface="Arial"/>
                <a:ea typeface="Arial"/>
                <a:cs typeface="Arial"/>
              </a:defRPr>
            </a:defPPr>
          </a:lstStyle>
          <a:p xmlns:a="http://schemas.openxmlformats.org/drawingml/2006/main">
            <a:pPr algn="l">
              <a:defRPr sz="1275" b="0">
                <a:solidFill>
                  <a:srgbClr val="536471"/>
                </a:solidFill>
                <a:latin typeface="Arial"/>
                <a:ea typeface="Arial"/>
                <a:cs typeface="Arial"/>
              </a:defRPr>
            </a:pPr>
            <a:r>
              <a:rPr sz="1275" b="0">
                <a:solidFill>
                  <a:srgbClr val="536471"/>
                </a:solidFill>
                <a:latin typeface="Arial"/>
                <a:ea typeface="Arial"/>
                <a:cs typeface="Arial"/>
              </a:rPr>
              <a:t>A first end-to-end version now scores pitches and summarizes pitchers by pitch type.</a:t>
            </a:r>
          </a:p>
        </p:txBody>
      </p:sp>
      <p:sp>
        <p:nvSpPr>
          <p:cNvPr id="5" name="">
            <a:extLst xmlns:a="http://schemas.openxmlformats.org/drawingml/2006/main">
              <a:ext uri="{FF2B5EF4-FFF2-40B4-BE49-F238E27FC236}">
                <a16:creationId xmlns:a16="http://schemas.microsoft.com/office/drawing/2014/main" id="{8E4FA018-B027-4FDB-9267-77CDD3C84C3E}"/>
              </a:ext>
            </a:extLst>
          </p:cNvPr>
          <p:cNvSpPr>
            <a:spLocks xmlns:a="http://schemas.openxmlformats.org/drawingml/2006/main" noGrp="1"/>
          </p:cNvSpPr>
          <p:nvPr/>
        </p:nvSpPr>
        <p:spPr>
          <a:xfrm xmlns:a="http://schemas.openxmlformats.org/drawingml/2006/main">
            <a:off x="552450" y="6438900"/>
            <a:ext cx="11049000" cy="9525"/>
          </a:xfrm>
          <a:prstGeom xmlns:a="http://schemas.openxmlformats.org/drawingml/2006/main" prst="rect">
            <a:avLst/>
          </a:prstGeom>
          <a:solidFill xmlns:a="http://schemas.openxmlformats.org/drawingml/2006/main">
            <a:srgbClr val="D7DEE3"/>
          </a:solidFill>
          <a:ln xmlns:a="http://schemas.openxmlformats.org/drawingml/2006/main" w="0">
            <a:solidFill>
              <a:srgbClr val="D7DEE3"/>
            </a:solidFill>
            <a:prstDash val="solid"/>
          </a:ln>
        </p:spPr>
      </p:sp>
      <p:sp>
        <p:nvSpPr>
          <p:cNvPr id="6" name="">
            <a:extLst xmlns:a="http://schemas.openxmlformats.org/drawingml/2006/main">
              <a:ext uri="{FF2B5EF4-FFF2-40B4-BE49-F238E27FC236}">
                <a16:creationId xmlns:a16="http://schemas.microsoft.com/office/drawing/2014/main" id="{D16BC38A-6FE5-4C4E-9825-74A74F6E07C4}"/>
              </a:ext>
            </a:extLst>
          </p:cNvPr>
          <p:cNvSpPr>
            <a:spLocks xmlns:a="http://schemas.openxmlformats.org/drawingml/2006/main" noGrp="1"/>
          </p:cNvSpPr>
          <p:nvPr/>
        </p:nvSpPr>
        <p:spPr>
          <a:xfrm xmlns:a="http://schemas.openxmlformats.org/drawingml/2006/main">
            <a:off x="552450" y="6524625"/>
            <a:ext cx="7620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825" b="1">
                <a:solidFill>
                  <a:srgbClr val="536471"/>
                </a:solidFill>
                <a:latin typeface="Arial"/>
                <a:ea typeface="Arial"/>
                <a:cs typeface="Arial"/>
              </a:defRPr>
            </a:defPPr>
          </a:lstStyle>
          <a:p xmlns:a="http://schemas.openxmlformats.org/drawingml/2006/main">
            <a:pPr algn="l">
              <a:defRPr sz="825" b="1">
                <a:solidFill>
                  <a:srgbClr val="536471"/>
                </a:solidFill>
                <a:latin typeface="Arial"/>
                <a:ea typeface="Arial"/>
                <a:cs typeface="Arial"/>
              </a:defRPr>
            </a:pPr>
            <a:r>
              <a:rPr sz="825" b="1">
                <a:solidFill>
                  <a:srgbClr val="536471"/>
                </a:solidFill>
                <a:latin typeface="Arial"/>
                <a:ea typeface="Arial"/>
                <a:cs typeface="Arial"/>
              </a:rPr>
              <a:t>STUFF+ MODEL UPDATE  •  DIABLOS ROJOS HACKATHON</a:t>
            </a:r>
          </a:p>
        </p:txBody>
      </p:sp>
      <p:sp>
        <p:nvSpPr>
          <p:cNvPr id="7" name="">
            <a:extLst xmlns:a="http://schemas.openxmlformats.org/drawingml/2006/main">
              <a:ext uri="{FF2B5EF4-FFF2-40B4-BE49-F238E27FC236}">
                <a16:creationId xmlns:a16="http://schemas.microsoft.com/office/drawing/2014/main" id="{2A517E9C-33C7-4E0D-939F-7E5D57A8EE36}"/>
              </a:ext>
            </a:extLst>
          </p:cNvPr>
          <p:cNvSpPr>
            <a:spLocks xmlns:a="http://schemas.openxmlformats.org/drawingml/2006/main" noGrp="1"/>
          </p:cNvSpPr>
          <p:nvPr/>
        </p:nvSpPr>
        <p:spPr>
          <a:xfrm xmlns:a="http://schemas.openxmlformats.org/drawingml/2006/main">
            <a:off x="11096625" y="6515100"/>
            <a:ext cx="504825"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r">
              <a:defRPr sz="900" b="1">
                <a:solidFill>
                  <a:srgbClr val="536471"/>
                </a:solidFill>
                <a:latin typeface="Arial"/>
                <a:ea typeface="Arial"/>
                <a:cs typeface="Arial"/>
              </a:defRPr>
            </a:defPPr>
          </a:lstStyle>
          <a:p xmlns:a="http://schemas.openxmlformats.org/drawingml/2006/main">
            <a:pPr algn="r">
              <a:defRPr sz="900" b="1">
                <a:solidFill>
                  <a:srgbClr val="536471"/>
                </a:solidFill>
                <a:latin typeface="Arial"/>
                <a:ea typeface="Arial"/>
                <a:cs typeface="Arial"/>
              </a:defRPr>
            </a:pPr>
            <a:r>
              <a:rPr sz="900" b="1">
                <a:solidFill>
                  <a:srgbClr val="536471"/>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8B24F287-F35E-48D1-9919-BA65B52C165E}"/>
              </a:ext>
            </a:extLst>
          </p:cNvPr>
          <p:cNvSpPr>
            <a:spLocks xmlns:a="http://schemas.openxmlformats.org/drawingml/2006/main" noGrp="1"/>
          </p:cNvSpPr>
          <p:nvPr/>
        </p:nvSpPr>
        <p:spPr>
          <a:xfrm xmlns:a="http://schemas.openxmlformats.org/drawingml/2006/main">
            <a:off x="552450" y="1752600"/>
            <a:ext cx="6953250" cy="4210050"/>
          </a:xfrm>
          <a:prstGeom xmlns:a="http://schemas.openxmlformats.org/drawingml/2006/main" prst="roundRect">
            <a:avLst>
              <a:gd name="adj" fmla="val 3620"/>
            </a:avLst>
          </a:prstGeom>
          <a:solidFill xmlns:a="http://schemas.openxmlformats.org/drawingml/2006/main">
            <a:srgbClr val="102A43"/>
          </a:solidFill>
          <a:ln xmlns:a="http://schemas.openxmlformats.org/drawingml/2006/main" w="0">
            <a:solidFill>
              <a:srgbClr val="102A43"/>
            </a:solidFill>
            <a:prstDash val="solid"/>
          </a:ln>
        </p:spPr>
      </p:sp>
      <p:sp>
        <p:nvSpPr>
          <p:cNvPr id="9" name="">
            <a:extLst xmlns:a="http://schemas.openxmlformats.org/drawingml/2006/main">
              <a:ext uri="{FF2B5EF4-FFF2-40B4-BE49-F238E27FC236}">
                <a16:creationId xmlns:a16="http://schemas.microsoft.com/office/drawing/2014/main" id="{4E9335B2-6470-48DE-9DC4-BF477AB635E6}"/>
              </a:ext>
            </a:extLst>
          </p:cNvPr>
          <p:cNvSpPr>
            <a:spLocks xmlns:a="http://schemas.openxmlformats.org/drawingml/2006/main" noGrp="1"/>
          </p:cNvSpPr>
          <p:nvPr/>
        </p:nvSpPr>
        <p:spPr>
          <a:xfrm xmlns:a="http://schemas.openxmlformats.org/drawingml/2006/main">
            <a:off x="838200" y="2009775"/>
            <a:ext cx="28575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F1A7A4"/>
                </a:solidFill>
                <a:latin typeface="Arial"/>
                <a:ea typeface="Arial"/>
                <a:cs typeface="Arial"/>
              </a:defRPr>
            </a:defPPr>
          </a:lstStyle>
          <a:p xmlns:a="http://schemas.openxmlformats.org/drawingml/2006/main">
            <a:pPr algn="l">
              <a:defRPr sz="1050" b="1">
                <a:solidFill>
                  <a:srgbClr val="F1A7A4"/>
                </a:solidFill>
                <a:latin typeface="Arial"/>
                <a:ea typeface="Arial"/>
                <a:cs typeface="Arial"/>
              </a:defRPr>
            </a:pPr>
            <a:r>
              <a:rPr sz="1050" b="1">
                <a:solidFill>
                  <a:srgbClr val="F1A7A4"/>
                </a:solidFill>
                <a:latin typeface="Arial"/>
                <a:ea typeface="Arial"/>
                <a:cs typeface="Arial"/>
              </a:rPr>
              <a:t>WHAT IS READY</a:t>
            </a:r>
          </a:p>
        </p:txBody>
      </p:sp>
      <p:sp>
        <p:nvSpPr>
          <p:cNvPr id="10" name="">
            <a:extLst xmlns:a="http://schemas.openxmlformats.org/drawingml/2006/main">
              <a:ext uri="{FF2B5EF4-FFF2-40B4-BE49-F238E27FC236}">
                <a16:creationId xmlns:a16="http://schemas.microsoft.com/office/drawing/2014/main" id="{4B553FE1-5540-402D-A31D-46A581D0CDFD}"/>
              </a:ext>
            </a:extLst>
          </p:cNvPr>
          <p:cNvSpPr>
            <a:spLocks xmlns:a="http://schemas.openxmlformats.org/drawingml/2006/main" noGrp="1"/>
          </p:cNvSpPr>
          <p:nvPr/>
        </p:nvSpPr>
        <p:spPr>
          <a:xfrm xmlns:a="http://schemas.openxmlformats.org/drawingml/2006/main">
            <a:off x="838200" y="2428875"/>
            <a:ext cx="3429000" cy="7429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4350" b="1">
                <a:solidFill>
                  <a:srgbClr val="FFFFFF"/>
                </a:solidFill>
                <a:latin typeface="Arial"/>
                <a:ea typeface="Arial"/>
                <a:cs typeface="Arial"/>
              </a:defRPr>
            </a:def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617,732</a:t>
            </a:r>
          </a:p>
        </p:txBody>
      </p:sp>
      <p:sp>
        <p:nvSpPr>
          <p:cNvPr id="11" name="">
            <a:extLst xmlns:a="http://schemas.openxmlformats.org/drawingml/2006/main">
              <a:ext uri="{FF2B5EF4-FFF2-40B4-BE49-F238E27FC236}">
                <a16:creationId xmlns:a16="http://schemas.microsoft.com/office/drawing/2014/main" id="{3A44A56A-69C9-4CD9-8E78-14106B3E04A9}"/>
              </a:ext>
            </a:extLst>
          </p:cNvPr>
          <p:cNvSpPr>
            <a:spLocks xmlns:a="http://schemas.openxmlformats.org/drawingml/2006/main" noGrp="1"/>
          </p:cNvSpPr>
          <p:nvPr/>
        </p:nvSpPr>
        <p:spPr>
          <a:xfrm xmlns:a="http://schemas.openxmlformats.org/drawingml/2006/main">
            <a:off x="857250" y="3209925"/>
            <a:ext cx="5619750" cy="285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500" b="0">
                <a:solidFill>
                  <a:srgbClr val="DCE6ED"/>
                </a:solidFill>
                <a:latin typeface="Arial"/>
                <a:ea typeface="Arial"/>
                <a:cs typeface="Arial"/>
              </a:defRPr>
            </a:defPPr>
          </a:lstStyle>
          <a:p xmlns:a="http://schemas.openxmlformats.org/drawingml/2006/main">
            <a:pPr algn="l">
              <a:defRPr sz="1500" b="0">
                <a:solidFill>
                  <a:srgbClr val="DCE6ED"/>
                </a:solidFill>
                <a:latin typeface="Arial"/>
                <a:ea typeface="Arial"/>
                <a:cs typeface="Arial"/>
              </a:defRPr>
            </a:pPr>
            <a:r>
              <a:rPr sz="1500" b="0">
                <a:solidFill>
                  <a:srgbClr val="DCE6ED"/>
                </a:solidFill>
                <a:latin typeface="Arial"/>
                <a:ea typeface="Arial"/>
                <a:cs typeface="Arial"/>
              </a:rPr>
              <a:t>pitches scored from 635,002 input rows</a:t>
            </a:r>
          </a:p>
        </p:txBody>
      </p:sp>
      <p:sp>
        <p:nvSpPr>
          <p:cNvPr id="12" name="">
            <a:extLst xmlns:a="http://schemas.openxmlformats.org/drawingml/2006/main">
              <a:ext uri="{FF2B5EF4-FFF2-40B4-BE49-F238E27FC236}">
                <a16:creationId xmlns:a16="http://schemas.microsoft.com/office/drawing/2014/main" id="{9373FE6F-F5CF-45F2-94E4-0E7BC27245D2}"/>
              </a:ext>
            </a:extLst>
          </p:cNvPr>
          <p:cNvSpPr>
            <a:spLocks xmlns:a="http://schemas.openxmlformats.org/drawingml/2006/main" noGrp="1"/>
          </p:cNvSpPr>
          <p:nvPr/>
        </p:nvSpPr>
        <p:spPr>
          <a:xfrm xmlns:a="http://schemas.openxmlformats.org/drawingml/2006/main">
            <a:off x="838200" y="3743325"/>
            <a:ext cx="6191250" cy="9525"/>
          </a:xfrm>
          <a:prstGeom xmlns:a="http://schemas.openxmlformats.org/drawingml/2006/main" prst="rect">
            <a:avLst/>
          </a:prstGeom>
          <a:solidFill xmlns:a="http://schemas.openxmlformats.org/drawingml/2006/main">
            <a:srgbClr val="476176"/>
          </a:solidFill>
          <a:ln xmlns:a="http://schemas.openxmlformats.org/drawingml/2006/main" w="0">
            <a:solidFill>
              <a:srgbClr val="476176"/>
            </a:solidFill>
            <a:prstDash val="solid"/>
          </a:ln>
        </p:spPr>
      </p:sp>
      <p:sp>
        <p:nvSpPr>
          <p:cNvPr id="13" name="">
            <a:extLst xmlns:a="http://schemas.openxmlformats.org/drawingml/2006/main">
              <a:ext uri="{FF2B5EF4-FFF2-40B4-BE49-F238E27FC236}">
                <a16:creationId xmlns:a16="http://schemas.microsoft.com/office/drawing/2014/main" id="{D1E0EE5A-1514-4FFE-B06E-0AD0852F1870}"/>
              </a:ext>
            </a:extLst>
          </p:cNvPr>
          <p:cNvSpPr>
            <a:spLocks xmlns:a="http://schemas.openxmlformats.org/drawingml/2006/main" noGrp="1"/>
          </p:cNvSpPr>
          <p:nvPr/>
        </p:nvSpPr>
        <p:spPr>
          <a:xfrm xmlns:a="http://schemas.openxmlformats.org/drawingml/2006/main">
            <a:off x="838200" y="4010025"/>
            <a:ext cx="857250" cy="609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7</a:t>
            </a:r>
          </a:p>
        </p:txBody>
      </p:sp>
      <p:sp>
        <p:nvSpPr>
          <p:cNvPr id="14" name="">
            <a:extLst xmlns:a="http://schemas.openxmlformats.org/drawingml/2006/main">
              <a:ext uri="{FF2B5EF4-FFF2-40B4-BE49-F238E27FC236}">
                <a16:creationId xmlns:a16="http://schemas.microsoft.com/office/drawing/2014/main" id="{18F4CDC2-8694-4571-967A-BDCF56BFA201}"/>
              </a:ext>
            </a:extLst>
          </p:cNvPr>
          <p:cNvSpPr>
            <a:spLocks xmlns:a="http://schemas.openxmlformats.org/drawingml/2006/main" noGrp="1"/>
          </p:cNvSpPr>
          <p:nvPr/>
        </p:nvSpPr>
        <p:spPr>
          <a:xfrm xmlns:a="http://schemas.openxmlformats.org/drawingml/2006/main">
            <a:off x="1695450" y="4095750"/>
            <a:ext cx="23812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350" b="0">
                <a:solidFill>
                  <a:srgbClr val="DCE6ED"/>
                </a:solidFill>
                <a:latin typeface="Arial"/>
                <a:ea typeface="Arial"/>
                <a:cs typeface="Arial"/>
              </a:defRPr>
            </a:defPPr>
          </a:lstStyle>
          <a:p xmlns:a="http://schemas.openxmlformats.org/drawingml/2006/main">
            <a:pPr algn="l">
              <a:defRPr sz="1350" b="0">
                <a:solidFill>
                  <a:srgbClr val="DCE6ED"/>
                </a:solidFill>
                <a:latin typeface="Arial"/>
                <a:ea typeface="Arial"/>
                <a:cs typeface="Arial"/>
              </a:defRPr>
            </a:pPr>
            <a:r>
              <a:rPr sz="1350" b="0">
                <a:solidFill>
                  <a:srgbClr val="DCE6ED"/>
                </a:solidFill>
                <a:latin typeface="Arial"/>
                <a:ea typeface="Arial"/>
                <a:cs typeface="Arial"/>
              </a:rPr>
              <a:t>pitch-family models</a:t>
            </a:r>
          </a:p>
        </p:txBody>
      </p:sp>
      <p:sp>
        <p:nvSpPr>
          <p:cNvPr id="15" name="">
            <a:extLst xmlns:a="http://schemas.openxmlformats.org/drawingml/2006/main">
              <a:ext uri="{FF2B5EF4-FFF2-40B4-BE49-F238E27FC236}">
                <a16:creationId xmlns:a16="http://schemas.microsoft.com/office/drawing/2014/main" id="{3F85AD38-29D3-4BBD-96C8-DFAE2C32D9F0}"/>
              </a:ext>
            </a:extLst>
          </p:cNvPr>
          <p:cNvSpPr>
            <a:spLocks xmlns:a="http://schemas.openxmlformats.org/drawingml/2006/main" noGrp="1"/>
          </p:cNvSpPr>
          <p:nvPr/>
        </p:nvSpPr>
        <p:spPr>
          <a:xfrm xmlns:a="http://schemas.openxmlformats.org/drawingml/2006/main">
            <a:off x="4238625" y="4010025"/>
            <a:ext cx="1428750" cy="609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3000" b="1">
                <a:solidFill>
                  <a:srgbClr val="FFFFFF"/>
                </a:solidFill>
                <a:latin typeface="Arial"/>
                <a:ea typeface="Arial"/>
                <a:cs typeface="Arial"/>
              </a:defRPr>
            </a:defPPr>
          </a:lstStyle>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1,718</a:t>
            </a:r>
          </a:p>
        </p:txBody>
      </p:sp>
      <p:sp>
        <p:nvSpPr>
          <p:cNvPr id="16" name="">
            <a:extLst xmlns:a="http://schemas.openxmlformats.org/drawingml/2006/main">
              <a:ext uri="{FF2B5EF4-FFF2-40B4-BE49-F238E27FC236}">
                <a16:creationId xmlns:a16="http://schemas.microsoft.com/office/drawing/2014/main" id="{4DA117AC-1E0A-4866-98B4-177EC4E5DF5D}"/>
              </a:ext>
            </a:extLst>
          </p:cNvPr>
          <p:cNvSpPr>
            <a:spLocks xmlns:a="http://schemas.openxmlformats.org/drawingml/2006/main" noGrp="1"/>
          </p:cNvSpPr>
          <p:nvPr/>
        </p:nvSpPr>
        <p:spPr>
          <a:xfrm xmlns:a="http://schemas.openxmlformats.org/drawingml/2006/main">
            <a:off x="4238625" y="4572000"/>
            <a:ext cx="2667000" cy="3048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75" b="0">
                <a:solidFill>
                  <a:srgbClr val="DCE6ED"/>
                </a:solidFill>
                <a:latin typeface="Arial"/>
                <a:ea typeface="Arial"/>
                <a:cs typeface="Arial"/>
              </a:defRPr>
            </a:defPPr>
          </a:lstStyle>
          <a:p xmlns:a="http://schemas.openxmlformats.org/drawingml/2006/main">
            <a:pPr algn="l">
              <a:defRPr sz="1275" b="0">
                <a:solidFill>
                  <a:srgbClr val="DCE6ED"/>
                </a:solidFill>
                <a:latin typeface="Arial"/>
                <a:ea typeface="Arial"/>
                <a:cs typeface="Arial"/>
              </a:defRPr>
            </a:pPr>
            <a:r>
              <a:rPr sz="1275" b="0">
                <a:solidFill>
                  <a:srgbClr val="DCE6ED"/>
                </a:solidFill>
                <a:latin typeface="Arial"/>
                <a:ea typeface="Arial"/>
                <a:cs typeface="Arial"/>
              </a:rPr>
              <a:t>pitcher-season summaries</a:t>
            </a:r>
          </a:p>
        </p:txBody>
      </p:sp>
      <p:sp>
        <p:nvSpPr>
          <p:cNvPr id="17" name="">
            <a:extLst xmlns:a="http://schemas.openxmlformats.org/drawingml/2006/main">
              <a:ext uri="{FF2B5EF4-FFF2-40B4-BE49-F238E27FC236}">
                <a16:creationId xmlns:a16="http://schemas.microsoft.com/office/drawing/2014/main" id="{E984905F-3AC5-4B6C-857F-A55E06707627}"/>
              </a:ext>
            </a:extLst>
          </p:cNvPr>
          <p:cNvSpPr>
            <a:spLocks xmlns:a="http://schemas.openxmlformats.org/drawingml/2006/main" noGrp="1"/>
          </p:cNvSpPr>
          <p:nvPr/>
        </p:nvSpPr>
        <p:spPr>
          <a:xfrm xmlns:a="http://schemas.openxmlformats.org/drawingml/2006/main">
            <a:off x="838200" y="4981575"/>
            <a:ext cx="142875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9,310</a:t>
            </a:r>
          </a:p>
        </p:txBody>
      </p:sp>
      <p:sp>
        <p:nvSpPr>
          <p:cNvPr id="18" name="">
            <a:extLst xmlns:a="http://schemas.openxmlformats.org/drawingml/2006/main">
              <a:ext uri="{FF2B5EF4-FFF2-40B4-BE49-F238E27FC236}">
                <a16:creationId xmlns:a16="http://schemas.microsoft.com/office/drawing/2014/main" id="{520A80A6-F35F-4CBD-9D99-70DA48B91216}"/>
              </a:ext>
            </a:extLst>
          </p:cNvPr>
          <p:cNvSpPr>
            <a:spLocks xmlns:a="http://schemas.openxmlformats.org/drawingml/2006/main" noGrp="1"/>
          </p:cNvSpPr>
          <p:nvPr/>
        </p:nvSpPr>
        <p:spPr>
          <a:xfrm xmlns:a="http://schemas.openxmlformats.org/drawingml/2006/main">
            <a:off x="2238375" y="5067300"/>
            <a:ext cx="4667250" cy="285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75" b="0">
                <a:solidFill>
                  <a:srgbClr val="DCE6ED"/>
                </a:solidFill>
                <a:latin typeface="Arial"/>
                <a:ea typeface="Arial"/>
                <a:cs typeface="Arial"/>
              </a:defRPr>
            </a:defPPr>
          </a:lstStyle>
          <a:p xmlns:a="http://schemas.openxmlformats.org/drawingml/2006/main">
            <a:pPr algn="l">
              <a:defRPr sz="1275" b="0">
                <a:solidFill>
                  <a:srgbClr val="DCE6ED"/>
                </a:solidFill>
                <a:latin typeface="Arial"/>
                <a:ea typeface="Arial"/>
                <a:cs typeface="Arial"/>
              </a:defRPr>
            </a:pPr>
            <a:r>
              <a:rPr sz="1275" b="0">
                <a:solidFill>
                  <a:srgbClr val="DCE6ED"/>
                </a:solidFill>
                <a:latin typeface="Arial"/>
                <a:ea typeface="Arial"/>
                <a:cs typeface="Arial"/>
              </a:rPr>
              <a:t>pitcher × pitch type × season summaries</a:t>
            </a:r>
          </a:p>
        </p:txBody>
      </p:sp>
      <p:sp>
        <p:nvSpPr>
          <p:cNvPr id="19" name="">
            <a:extLst xmlns:a="http://schemas.openxmlformats.org/drawingml/2006/main">
              <a:ext uri="{FF2B5EF4-FFF2-40B4-BE49-F238E27FC236}">
                <a16:creationId xmlns:a16="http://schemas.microsoft.com/office/drawing/2014/main" id="{A7589175-5556-46F4-80A4-02A2DE9D5273}"/>
              </a:ext>
            </a:extLst>
          </p:cNvPr>
          <p:cNvSpPr>
            <a:spLocks xmlns:a="http://schemas.openxmlformats.org/drawingml/2006/main" noGrp="1"/>
          </p:cNvSpPr>
          <p:nvPr/>
        </p:nvSpPr>
        <p:spPr>
          <a:xfrm xmlns:a="http://schemas.openxmlformats.org/drawingml/2006/main">
            <a:off x="7848600" y="1752600"/>
            <a:ext cx="3752850" cy="4210050"/>
          </a:xfrm>
          <a:prstGeom xmlns:a="http://schemas.openxmlformats.org/drawingml/2006/main" prst="roundRect">
            <a:avLst>
              <a:gd name="adj" fmla="val 4061"/>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608098F5-400E-40DB-90AE-F8B88CA5AFE8}"/>
              </a:ext>
            </a:extLst>
          </p:cNvPr>
          <p:cNvSpPr>
            <a:spLocks xmlns:a="http://schemas.openxmlformats.org/drawingml/2006/main" noGrp="1"/>
          </p:cNvSpPr>
          <p:nvPr/>
        </p:nvSpPr>
        <p:spPr>
          <a:xfrm xmlns:a="http://schemas.openxmlformats.org/drawingml/2006/main">
            <a:off x="8134350" y="2019300"/>
            <a:ext cx="3190875" cy="238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D64045"/>
                </a:solidFill>
                <a:latin typeface="Arial"/>
                <a:ea typeface="Arial"/>
                <a:cs typeface="Arial"/>
              </a:defRPr>
            </a:defPPr>
          </a:lstStyle>
          <a:p xmlns:a="http://schemas.openxmlformats.org/drawingml/2006/main">
            <a:pPr algn="l">
              <a:defRPr sz="1050" b="1">
                <a:solidFill>
                  <a:srgbClr val="D64045"/>
                </a:solidFill>
                <a:latin typeface="Arial"/>
                <a:ea typeface="Arial"/>
                <a:cs typeface="Arial"/>
              </a:defRPr>
            </a:pPr>
            <a:r>
              <a:rPr sz="1050" b="1">
                <a:solidFill>
                  <a:srgbClr val="D64045"/>
                </a:solidFill>
                <a:latin typeface="Arial"/>
                <a:ea typeface="Arial"/>
                <a:cs typeface="Arial"/>
              </a:rPr>
              <a:t>THE HONEST TAKEAWAY</a:t>
            </a:r>
          </a:p>
        </p:txBody>
      </p:sp>
      <p:sp>
        <p:nvSpPr>
          <p:cNvPr id="21" name="">
            <a:extLst xmlns:a="http://schemas.openxmlformats.org/drawingml/2006/main">
              <a:ext uri="{FF2B5EF4-FFF2-40B4-BE49-F238E27FC236}">
                <a16:creationId xmlns:a16="http://schemas.microsoft.com/office/drawing/2014/main" id="{21F8A1DF-ADE7-4C53-9B41-B25238BA08DB}"/>
              </a:ext>
            </a:extLst>
          </p:cNvPr>
          <p:cNvSpPr>
            <a:spLocks xmlns:a="http://schemas.openxmlformats.org/drawingml/2006/main" noGrp="1"/>
          </p:cNvSpPr>
          <p:nvPr/>
        </p:nvSpPr>
        <p:spPr>
          <a:xfrm xmlns:a="http://schemas.openxmlformats.org/drawingml/2006/main">
            <a:off x="8134350" y="2447925"/>
            <a:ext cx="3048000" cy="7239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2250" b="1">
                <a:solidFill>
                  <a:srgbClr val="102A43"/>
                </a:solidFill>
                <a:latin typeface="Arial"/>
                <a:ea typeface="Arial"/>
                <a:cs typeface="Arial"/>
              </a:defRPr>
            </a:defPPr>
          </a:lstStyle>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XGBoost did not beat linear.</a:t>
            </a:r>
          </a:p>
        </p:txBody>
      </p:sp>
      <p:sp>
        <p:nvSpPr>
          <p:cNvPr id="22" name="">
            <a:extLst xmlns:a="http://schemas.openxmlformats.org/drawingml/2006/main">
              <a:ext uri="{FF2B5EF4-FFF2-40B4-BE49-F238E27FC236}">
                <a16:creationId xmlns:a16="http://schemas.microsoft.com/office/drawing/2014/main" id="{4201CCF1-0FFA-4FAF-90D4-36FCF4F2DC90}"/>
              </a:ext>
            </a:extLst>
          </p:cNvPr>
          <p:cNvSpPr>
            <a:spLocks xmlns:a="http://schemas.openxmlformats.org/drawingml/2006/main" noGrp="1"/>
          </p:cNvSpPr>
          <p:nvPr/>
        </p:nvSpPr>
        <p:spPr>
          <a:xfrm xmlns:a="http://schemas.openxmlformats.org/drawingml/2006/main">
            <a:off x="8134350" y="3314700"/>
            <a:ext cx="3028950" cy="11239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425" b="0">
                <a:solidFill>
                  <a:srgbClr val="14212B"/>
                </a:solidFill>
                <a:latin typeface="Arial"/>
                <a:ea typeface="Arial"/>
                <a:cs typeface="Arial"/>
              </a:defRPr>
            </a:defPPr>
          </a:lstStyle>
          <a:p xmlns:a="http://schemas.openxmlformats.org/drawingml/2006/main">
            <a:pPr algn="l">
              <a:defRPr sz="1425" b="0">
                <a:solidFill>
                  <a:srgbClr val="14212B"/>
                </a:solidFill>
                <a:latin typeface="Arial"/>
                <a:ea typeface="Arial"/>
                <a:cs typeface="Arial"/>
              </a:defRPr>
            </a:pPr>
            <a:r>
              <a:rPr sz="1425" b="0">
                <a:solidFill>
                  <a:srgbClr val="14212B"/>
                </a:solidFill>
                <a:latin typeface="Arial"/>
                <a:ea typeface="Arial"/>
                <a:cs typeface="Arial"/>
              </a:rPr>
              <a:t>Linear had slightly lower RMSE in both evaluations. The gaps are tiny, so this is a baseline result—not a reason to declare a winner.</a:t>
            </a:r>
          </a:p>
        </p:txBody>
      </p:sp>
      <p:sp>
        <p:nvSpPr>
          <p:cNvPr id="23" name="">
            <a:extLst xmlns:a="http://schemas.openxmlformats.org/drawingml/2006/main">
              <a:ext uri="{FF2B5EF4-FFF2-40B4-BE49-F238E27FC236}">
                <a16:creationId xmlns:a16="http://schemas.microsoft.com/office/drawing/2014/main" id="{A96C7067-6A51-4D0E-B2F9-906CD8865481}"/>
              </a:ext>
            </a:extLst>
          </p:cNvPr>
          <p:cNvSpPr>
            <a:spLocks xmlns:a="http://schemas.openxmlformats.org/drawingml/2006/main" noGrp="1"/>
          </p:cNvSpPr>
          <p:nvPr/>
        </p:nvSpPr>
        <p:spPr>
          <a:xfrm xmlns:a="http://schemas.openxmlformats.org/drawingml/2006/main">
            <a:off x="8134350" y="4762500"/>
            <a:ext cx="3143250" cy="876300"/>
          </a:xfrm>
          <a:prstGeom xmlns:a="http://schemas.openxmlformats.org/drawingml/2006/main" prst="roundRect">
            <a:avLst>
              <a:gd name="adj" fmla="val 10870"/>
            </a:avLst>
          </a:prstGeom>
          <a:solidFill xmlns:a="http://schemas.openxmlformats.org/drawingml/2006/main">
            <a:srgbClr val="E8EEF2"/>
          </a:solidFill>
          <a:ln xmlns:a="http://schemas.openxmlformats.org/drawingml/2006/main" w="0">
            <a:solidFill>
              <a:srgbClr val="E8EEF2"/>
            </a:solidFill>
            <a:prstDash val="solid"/>
          </a:ln>
        </p:spPr>
      </p:sp>
      <p:sp>
        <p:nvSpPr>
          <p:cNvPr id="24" name="">
            <a:extLst xmlns:a="http://schemas.openxmlformats.org/drawingml/2006/main">
              <a:ext uri="{FF2B5EF4-FFF2-40B4-BE49-F238E27FC236}">
                <a16:creationId xmlns:a16="http://schemas.microsoft.com/office/drawing/2014/main" id="{98C030A8-610B-40AB-8A14-7FD38847C015}"/>
              </a:ext>
            </a:extLst>
          </p:cNvPr>
          <p:cNvSpPr>
            <a:spLocks xmlns:a="http://schemas.openxmlformats.org/drawingml/2006/main" noGrp="1"/>
          </p:cNvSpPr>
          <p:nvPr/>
        </p:nvSpPr>
        <p:spPr>
          <a:xfrm xmlns:a="http://schemas.openxmlformats.org/drawingml/2006/main">
            <a:off x="8324850" y="4886325"/>
            <a:ext cx="2781300" cy="609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00" b="1">
                <a:solidFill>
                  <a:srgbClr val="102A43"/>
                </a:solidFill>
                <a:latin typeface="Arial"/>
                <a:ea typeface="Arial"/>
                <a:cs typeface="Arial"/>
              </a:defRPr>
            </a:defPPr>
          </a:lstStyle>
          <a:p xmlns:a="http://schemas.openxmlformats.org/drawingml/2006/main">
            <a:pPr algn="l">
              <a:defRPr sz="1200" b="1">
                <a:solidFill>
                  <a:srgbClr val="102A43"/>
                </a:solidFill>
                <a:latin typeface="Arial"/>
                <a:ea typeface="Arial"/>
                <a:cs typeface="Arial"/>
              </a:defRPr>
            </a:pPr>
            <a:r>
              <a:rPr sz="1200" b="1">
                <a:solidFill>
                  <a:srgbClr val="102A43"/>
                </a:solidFill>
                <a:latin typeface="Arial"/>
                <a:ea typeface="Arial"/>
                <a:cs typeface="Arial"/>
              </a:rPr>
              <a:t>Next: compare simpler and nonlinear options on training-side validation before choosing the model.</a:t>
            </a:r>
          </a:p>
        </p:txBody>
      </p:sp>
    </p:spTree>
    <p:extLst>
      <p:ext uri="{BB962C8B-B14F-4D97-AF65-F5344CB8AC3E}">
        <p14:creationId xmlns:p14="http://schemas.microsoft.com/office/powerpoint/2010/main" val="149494005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563F620-3C70-42C0-A3EC-022D1611DCA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2" name="">
            <a:extLst xmlns:a="http://schemas.openxmlformats.org/drawingml/2006/main">
              <a:ext uri="{FF2B5EF4-FFF2-40B4-BE49-F238E27FC236}">
                <a16:creationId xmlns:a16="http://schemas.microsoft.com/office/drawing/2014/main" id="{4495AB3E-6512-4542-8DFF-824755AE6ADF}"/>
              </a:ext>
            </a:extLst>
          </p:cNvPr>
          <p:cNvSpPr>
            <a:spLocks xmlns:a="http://schemas.openxmlformats.org/drawingml/2006/main" noGrp="1"/>
          </p:cNvSpPr>
          <p:nvPr/>
        </p:nvSpPr>
        <p:spPr>
          <a:xfrm xmlns:a="http://schemas.openxmlformats.org/drawingml/2006/main">
            <a:off x="552450" y="304800"/>
            <a:ext cx="110490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D64045"/>
                </a:solidFill>
                <a:latin typeface="Arial"/>
                <a:ea typeface="Arial"/>
                <a:cs typeface="Arial"/>
              </a:defRPr>
            </a:defPPr>
          </a:lstStyle>
          <a:p xmlns:a="http://schemas.openxmlformats.org/drawingml/2006/main">
            <a:pPr algn="l">
              <a:defRPr sz="1050" b="1">
                <a:solidFill>
                  <a:srgbClr val="D64045"/>
                </a:solidFill>
                <a:latin typeface="Arial"/>
                <a:ea typeface="Arial"/>
                <a:cs typeface="Arial"/>
              </a:defRPr>
            </a:pPr>
            <a:r>
              <a:rPr sz="1050" b="1">
                <a:solidFill>
                  <a:srgbClr val="D64045"/>
                </a:solidFill>
                <a:latin typeface="Arial"/>
                <a:ea typeface="Arial"/>
                <a:cs typeface="Arial"/>
              </a:rPr>
              <a:t>MODEL DESIGN</a:t>
            </a:r>
          </a:p>
        </p:txBody>
      </p:sp>
      <p:sp>
        <p:nvSpPr>
          <p:cNvPr id="3" name="">
            <a:extLst xmlns:a="http://schemas.openxmlformats.org/drawingml/2006/main">
              <a:ext uri="{FF2B5EF4-FFF2-40B4-BE49-F238E27FC236}">
                <a16:creationId xmlns:a16="http://schemas.microsoft.com/office/drawing/2014/main" id="{AE7F0524-8E29-483C-8A60-89FDF5FB8135}"/>
              </a:ext>
            </a:extLst>
          </p:cNvPr>
          <p:cNvSpPr>
            <a:spLocks xmlns:a="http://schemas.openxmlformats.org/drawingml/2006/main" noGrp="1"/>
          </p:cNvSpPr>
          <p:nvPr/>
        </p:nvSpPr>
        <p:spPr>
          <a:xfrm xmlns:a="http://schemas.openxmlformats.org/drawingml/2006/main">
            <a:off x="552450" y="619125"/>
            <a:ext cx="110490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2550" b="1">
                <a:solidFill>
                  <a:srgbClr val="102A43"/>
                </a:solidFill>
                <a:latin typeface="Arial"/>
                <a:ea typeface="Arial"/>
                <a:cs typeface="Arial"/>
              </a:defRPr>
            </a:defPPr>
          </a:lstStyle>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The score starts with pitch traits, then puts them on a common scale</a:t>
            </a:r>
          </a:p>
        </p:txBody>
      </p:sp>
      <p:sp>
        <p:nvSpPr>
          <p:cNvPr id="4" name="">
            <a:extLst xmlns:a="http://schemas.openxmlformats.org/drawingml/2006/main">
              <a:ext uri="{FF2B5EF4-FFF2-40B4-BE49-F238E27FC236}">
                <a16:creationId xmlns:a16="http://schemas.microsoft.com/office/drawing/2014/main" id="{4394045C-EFED-44D2-B43B-A282B43EDEA2}"/>
              </a:ext>
            </a:extLst>
          </p:cNvPr>
          <p:cNvSpPr>
            <a:spLocks xmlns:a="http://schemas.openxmlformats.org/drawingml/2006/main" noGrp="1"/>
          </p:cNvSpPr>
          <p:nvPr/>
        </p:nvSpPr>
        <p:spPr>
          <a:xfrm xmlns:a="http://schemas.openxmlformats.org/drawingml/2006/main">
            <a:off x="552450" y="1171575"/>
            <a:ext cx="110490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75" b="0">
                <a:solidFill>
                  <a:srgbClr val="536471"/>
                </a:solidFill>
                <a:latin typeface="Arial"/>
                <a:ea typeface="Arial"/>
                <a:cs typeface="Arial"/>
              </a:defRPr>
            </a:defPPr>
          </a:lstStyle>
          <a:p xmlns:a="http://schemas.openxmlformats.org/drawingml/2006/main">
            <a:pPr algn="l">
              <a:defRPr sz="1275" b="0">
                <a:solidFill>
                  <a:srgbClr val="536471"/>
                </a:solidFill>
                <a:latin typeface="Arial"/>
                <a:ea typeface="Arial"/>
                <a:cs typeface="Arial"/>
              </a:defRPr>
            </a:pPr>
            <a:r>
              <a:rPr sz="1275" b="0">
                <a:solidFill>
                  <a:srgbClr val="536471"/>
                </a:solidFill>
                <a:latin typeface="Arial"/>
                <a:ea typeface="Arial"/>
                <a:cs typeface="Arial"/>
              </a:rPr>
              <a:t>Separate pitch families let the model learn different trait–value relationships by pitch type.</a:t>
            </a:r>
          </a:p>
        </p:txBody>
      </p:sp>
      <p:sp>
        <p:nvSpPr>
          <p:cNvPr id="5" name="">
            <a:extLst xmlns:a="http://schemas.openxmlformats.org/drawingml/2006/main">
              <a:ext uri="{FF2B5EF4-FFF2-40B4-BE49-F238E27FC236}">
                <a16:creationId xmlns:a16="http://schemas.microsoft.com/office/drawing/2014/main" id="{293728B6-BF32-41A4-8BAE-B522A7D62225}"/>
              </a:ext>
            </a:extLst>
          </p:cNvPr>
          <p:cNvSpPr>
            <a:spLocks xmlns:a="http://schemas.openxmlformats.org/drawingml/2006/main" noGrp="1"/>
          </p:cNvSpPr>
          <p:nvPr/>
        </p:nvSpPr>
        <p:spPr>
          <a:xfrm xmlns:a="http://schemas.openxmlformats.org/drawingml/2006/main">
            <a:off x="552450" y="6438900"/>
            <a:ext cx="11049000" cy="9525"/>
          </a:xfrm>
          <a:prstGeom xmlns:a="http://schemas.openxmlformats.org/drawingml/2006/main" prst="rect">
            <a:avLst/>
          </a:prstGeom>
          <a:solidFill xmlns:a="http://schemas.openxmlformats.org/drawingml/2006/main">
            <a:srgbClr val="D7DEE3"/>
          </a:solidFill>
          <a:ln xmlns:a="http://schemas.openxmlformats.org/drawingml/2006/main" w="0">
            <a:solidFill>
              <a:srgbClr val="D7DEE3"/>
            </a:solidFill>
            <a:prstDash val="solid"/>
          </a:ln>
        </p:spPr>
      </p:sp>
      <p:sp>
        <p:nvSpPr>
          <p:cNvPr id="6" name="">
            <a:extLst xmlns:a="http://schemas.openxmlformats.org/drawingml/2006/main">
              <a:ext uri="{FF2B5EF4-FFF2-40B4-BE49-F238E27FC236}">
                <a16:creationId xmlns:a16="http://schemas.microsoft.com/office/drawing/2014/main" id="{AB15E6AE-3885-4226-A1D5-0D95AFB1182D}"/>
              </a:ext>
            </a:extLst>
          </p:cNvPr>
          <p:cNvSpPr>
            <a:spLocks xmlns:a="http://schemas.openxmlformats.org/drawingml/2006/main" noGrp="1"/>
          </p:cNvSpPr>
          <p:nvPr/>
        </p:nvSpPr>
        <p:spPr>
          <a:xfrm xmlns:a="http://schemas.openxmlformats.org/drawingml/2006/main">
            <a:off x="552450" y="6524625"/>
            <a:ext cx="7620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825" b="1">
                <a:solidFill>
                  <a:srgbClr val="536471"/>
                </a:solidFill>
                <a:latin typeface="Arial"/>
                <a:ea typeface="Arial"/>
                <a:cs typeface="Arial"/>
              </a:defRPr>
            </a:defPPr>
          </a:lstStyle>
          <a:p xmlns:a="http://schemas.openxmlformats.org/drawingml/2006/main">
            <a:pPr algn="l">
              <a:defRPr sz="825" b="1">
                <a:solidFill>
                  <a:srgbClr val="536471"/>
                </a:solidFill>
                <a:latin typeface="Arial"/>
                <a:ea typeface="Arial"/>
                <a:cs typeface="Arial"/>
              </a:defRPr>
            </a:pPr>
            <a:r>
              <a:rPr sz="825" b="1">
                <a:solidFill>
                  <a:srgbClr val="536471"/>
                </a:solidFill>
                <a:latin typeface="Arial"/>
                <a:ea typeface="Arial"/>
                <a:cs typeface="Arial"/>
              </a:rPr>
              <a:t>STUFF+ MODEL UPDATE  •  DIABLOS ROJOS HACKATHON</a:t>
            </a:r>
          </a:p>
        </p:txBody>
      </p:sp>
      <p:sp>
        <p:nvSpPr>
          <p:cNvPr id="7" name="">
            <a:extLst xmlns:a="http://schemas.openxmlformats.org/drawingml/2006/main">
              <a:ext uri="{FF2B5EF4-FFF2-40B4-BE49-F238E27FC236}">
                <a16:creationId xmlns:a16="http://schemas.microsoft.com/office/drawing/2014/main" id="{3919BE08-6038-4B40-BC25-E33C4D581A5E}"/>
              </a:ext>
            </a:extLst>
          </p:cNvPr>
          <p:cNvSpPr>
            <a:spLocks xmlns:a="http://schemas.openxmlformats.org/drawingml/2006/main" noGrp="1"/>
          </p:cNvSpPr>
          <p:nvPr/>
        </p:nvSpPr>
        <p:spPr>
          <a:xfrm xmlns:a="http://schemas.openxmlformats.org/drawingml/2006/main">
            <a:off x="11096625" y="6515100"/>
            <a:ext cx="504825"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r">
              <a:defRPr sz="900" b="1">
                <a:solidFill>
                  <a:srgbClr val="536471"/>
                </a:solidFill>
                <a:latin typeface="Arial"/>
                <a:ea typeface="Arial"/>
                <a:cs typeface="Arial"/>
              </a:defRPr>
            </a:defPPr>
          </a:lstStyle>
          <a:p xmlns:a="http://schemas.openxmlformats.org/drawingml/2006/main">
            <a:pPr algn="r">
              <a:defRPr sz="900" b="1">
                <a:solidFill>
                  <a:srgbClr val="536471"/>
                </a:solidFill>
                <a:latin typeface="Arial"/>
                <a:ea typeface="Arial"/>
                <a:cs typeface="Arial"/>
              </a:defRPr>
            </a:pPr>
            <a:r>
              <a:rPr sz="900" b="1">
                <a:solidFill>
                  <a:srgbClr val="53647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2E3F275-F69D-46D5-B57F-A5DD6C09E8AC}"/>
              </a:ext>
            </a:extLst>
          </p:cNvPr>
          <p:cNvSpPr>
            <a:spLocks xmlns:a="http://schemas.openxmlformats.org/drawingml/2006/main" noGrp="1"/>
          </p:cNvSpPr>
          <p:nvPr/>
        </p:nvSpPr>
        <p:spPr>
          <a:xfrm xmlns:a="http://schemas.openxmlformats.org/drawingml/2006/main">
            <a:off x="552450" y="1914525"/>
            <a:ext cx="2438400" cy="18669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676BC17A-C930-4FC3-8BAD-C9123BCC1BE4}"/>
              </a:ext>
            </a:extLst>
          </p:cNvPr>
          <p:cNvSpPr>
            <a:spLocks xmlns:a="http://schemas.openxmlformats.org/drawingml/2006/main" noGrp="1"/>
          </p:cNvSpPr>
          <p:nvPr/>
        </p:nvSpPr>
        <p:spPr>
          <a:xfrm xmlns:a="http://schemas.openxmlformats.org/drawingml/2006/main">
            <a:off x="552450" y="1914525"/>
            <a:ext cx="76200" cy="1866900"/>
          </a:xfrm>
          <a:prstGeom xmlns:a="http://schemas.openxmlformats.org/drawingml/2006/main" prst="rect">
            <a:avLst/>
          </a:prstGeom>
          <a:solidFill xmlns:a="http://schemas.openxmlformats.org/drawingml/2006/main">
            <a:srgbClr val="2D6A8A"/>
          </a:solidFill>
          <a:ln xmlns:a="http://schemas.openxmlformats.org/drawingml/2006/main" w="0">
            <a:solidFill>
              <a:srgbClr val="2D6A8A"/>
            </a:solidFill>
            <a:prstDash val="solid"/>
          </a:ln>
        </p:spPr>
      </p:sp>
      <p:sp>
        <p:nvSpPr>
          <p:cNvPr id="10" name="">
            <a:extLst xmlns:a="http://schemas.openxmlformats.org/drawingml/2006/main">
              <a:ext uri="{FF2B5EF4-FFF2-40B4-BE49-F238E27FC236}">
                <a16:creationId xmlns:a16="http://schemas.microsoft.com/office/drawing/2014/main" id="{C5E819CA-9284-47CF-8384-08AE82AA0820}"/>
              </a:ext>
            </a:extLst>
          </p:cNvPr>
          <p:cNvSpPr>
            <a:spLocks xmlns:a="http://schemas.openxmlformats.org/drawingml/2006/main" noGrp="1"/>
          </p:cNvSpPr>
          <p:nvPr/>
        </p:nvSpPr>
        <p:spPr>
          <a:xfrm xmlns:a="http://schemas.openxmlformats.org/drawingml/2006/main">
            <a:off x="762000" y="2105025"/>
            <a:ext cx="2057400" cy="238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975" b="1">
                <a:solidFill>
                  <a:srgbClr val="2D6A8A"/>
                </a:solidFill>
                <a:latin typeface="Arial"/>
                <a:ea typeface="Arial"/>
                <a:cs typeface="Arial"/>
              </a:defRPr>
            </a:defPPr>
          </a:lstStyle>
          <a:p xmlns:a="http://schemas.openxmlformats.org/drawingml/2006/main">
            <a:pPr algn="l">
              <a:defRPr sz="975" b="1">
                <a:solidFill>
                  <a:srgbClr val="2D6A8A"/>
                </a:solidFill>
                <a:latin typeface="Arial"/>
                <a:ea typeface="Arial"/>
                <a:cs typeface="Arial"/>
              </a:defRPr>
            </a:pPr>
            <a:r>
              <a:rPr sz="975" b="1">
                <a:solidFill>
                  <a:srgbClr val="2D6A8A"/>
                </a:solidFill>
                <a:latin typeface="Arial"/>
                <a:ea typeface="Arial"/>
                <a:cs typeface="Arial"/>
              </a:rPr>
              <a:t>01  PHYSICAL INPUTS</a:t>
            </a:r>
          </a:p>
        </p:txBody>
      </p:sp>
      <p:sp>
        <p:nvSpPr>
          <p:cNvPr id="11" name="">
            <a:extLst xmlns:a="http://schemas.openxmlformats.org/drawingml/2006/main">
              <a:ext uri="{FF2B5EF4-FFF2-40B4-BE49-F238E27FC236}">
                <a16:creationId xmlns:a16="http://schemas.microsoft.com/office/drawing/2014/main" id="{7AF367DF-B55C-4F58-A22D-8D2DC8543124}"/>
              </a:ext>
            </a:extLst>
          </p:cNvPr>
          <p:cNvSpPr>
            <a:spLocks xmlns:a="http://schemas.openxmlformats.org/drawingml/2006/main" noGrp="1"/>
          </p:cNvSpPr>
          <p:nvPr/>
        </p:nvSpPr>
        <p:spPr>
          <a:xfrm xmlns:a="http://schemas.openxmlformats.org/drawingml/2006/main">
            <a:off x="762000" y="2466975"/>
            <a:ext cx="20574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425" b="1">
                <a:solidFill>
                  <a:srgbClr val="102A43"/>
                </a:solidFill>
                <a:latin typeface="Arial"/>
                <a:ea typeface="Arial"/>
                <a:cs typeface="Arial"/>
              </a:defRPr>
            </a:defPPr>
          </a:lstStyle>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Velocity • spin • movement</a:t>
            </a:r>
          </a:p>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release point • extension</a:t>
            </a:r>
          </a:p>
        </p:txBody>
      </p:sp>
      <p:sp>
        <p:nvSpPr>
          <p:cNvPr id="12" name="">
            <a:extLst xmlns:a="http://schemas.openxmlformats.org/drawingml/2006/main">
              <a:ext uri="{FF2B5EF4-FFF2-40B4-BE49-F238E27FC236}">
                <a16:creationId xmlns:a16="http://schemas.microsoft.com/office/drawing/2014/main" id="{B0DACEA6-AB6B-4921-A238-A1DECF0656F8}"/>
              </a:ext>
            </a:extLst>
          </p:cNvPr>
          <p:cNvSpPr>
            <a:spLocks xmlns:a="http://schemas.openxmlformats.org/drawingml/2006/main" noGrp="1"/>
          </p:cNvSpPr>
          <p:nvPr/>
        </p:nvSpPr>
        <p:spPr>
          <a:xfrm xmlns:a="http://schemas.openxmlformats.org/drawingml/2006/main">
            <a:off x="762000" y="3114675"/>
            <a:ext cx="2038350" cy="4953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125" b="0">
                <a:solidFill>
                  <a:srgbClr val="536471"/>
                </a:solidFill>
                <a:latin typeface="Arial"/>
                <a:ea typeface="Arial"/>
                <a:cs typeface="Arial"/>
              </a:defRPr>
            </a:defPPr>
          </a:lstStyle>
          <a:p xmlns:a="http://schemas.openxmlformats.org/drawingml/2006/main">
            <a:pPr algn="l">
              <a:defRPr sz="1125" b="0">
                <a:solidFill>
                  <a:srgbClr val="536471"/>
                </a:solidFill>
                <a:latin typeface="Arial"/>
                <a:ea typeface="Arial"/>
                <a:cs typeface="Arial"/>
              </a:defRPr>
            </a:pPr>
            <a:r>
              <a:rPr sz="1125" b="0">
                <a:solidFill>
                  <a:srgbClr val="536471"/>
                </a:solidFill>
                <a:latin typeface="Arial"/>
                <a:ea typeface="Arial"/>
                <a:cs typeface="Arial"/>
              </a:rPr>
              <a:t>Pitch measurements describe “stuff.”</a:t>
            </a:r>
          </a:p>
        </p:txBody>
      </p:sp>
      <p:sp>
        <p:nvSpPr>
          <p:cNvPr id="13" name="">
            <a:extLst xmlns:a="http://schemas.openxmlformats.org/drawingml/2006/main">
              <a:ext uri="{FF2B5EF4-FFF2-40B4-BE49-F238E27FC236}">
                <a16:creationId xmlns:a16="http://schemas.microsoft.com/office/drawing/2014/main" id="{1619A26A-5E9C-42A9-9D9A-676D079BA547}"/>
              </a:ext>
            </a:extLst>
          </p:cNvPr>
          <p:cNvSpPr>
            <a:spLocks xmlns:a="http://schemas.openxmlformats.org/drawingml/2006/main" noGrp="1"/>
          </p:cNvSpPr>
          <p:nvPr/>
        </p:nvSpPr>
        <p:spPr>
          <a:xfrm xmlns:a="http://schemas.openxmlformats.org/drawingml/2006/main">
            <a:off x="3028950" y="2790825"/>
            <a:ext cx="190500" cy="28575"/>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14" name="">
            <a:extLst xmlns:a="http://schemas.openxmlformats.org/drawingml/2006/main">
              <a:ext uri="{FF2B5EF4-FFF2-40B4-BE49-F238E27FC236}">
                <a16:creationId xmlns:a16="http://schemas.microsoft.com/office/drawing/2014/main" id="{30FCD143-1DB4-4613-AAB0-C9225AD9FFC1}"/>
              </a:ext>
            </a:extLst>
          </p:cNvPr>
          <p:cNvSpPr>
            <a:spLocks xmlns:a="http://schemas.openxmlformats.org/drawingml/2006/main" noGrp="1"/>
          </p:cNvSpPr>
          <p:nvPr/>
        </p:nvSpPr>
        <p:spPr>
          <a:xfrm xmlns:a="http://schemas.openxmlformats.org/drawingml/2006/main">
            <a:off x="3257550" y="1914525"/>
            <a:ext cx="2438400" cy="18669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AD40B6AD-41F9-4A8B-B08E-E9FA23E133B9}"/>
              </a:ext>
            </a:extLst>
          </p:cNvPr>
          <p:cNvSpPr>
            <a:spLocks xmlns:a="http://schemas.openxmlformats.org/drawingml/2006/main" noGrp="1"/>
          </p:cNvSpPr>
          <p:nvPr/>
        </p:nvSpPr>
        <p:spPr>
          <a:xfrm xmlns:a="http://schemas.openxmlformats.org/drawingml/2006/main">
            <a:off x="3257550" y="1914525"/>
            <a:ext cx="76200" cy="1866900"/>
          </a:xfrm>
          <a:prstGeom xmlns:a="http://schemas.openxmlformats.org/drawingml/2006/main" prst="rect">
            <a:avLst/>
          </a:prstGeom>
          <a:solidFill xmlns:a="http://schemas.openxmlformats.org/drawingml/2006/main">
            <a:srgbClr val="2D6A8A"/>
          </a:solidFill>
          <a:ln xmlns:a="http://schemas.openxmlformats.org/drawingml/2006/main" w="0">
            <a:solidFill>
              <a:srgbClr val="2D6A8A"/>
            </a:solidFill>
            <a:prstDash val="solid"/>
          </a:ln>
        </p:spPr>
      </p:sp>
      <p:sp>
        <p:nvSpPr>
          <p:cNvPr id="16" name="">
            <a:extLst xmlns:a="http://schemas.openxmlformats.org/drawingml/2006/main">
              <a:ext uri="{FF2B5EF4-FFF2-40B4-BE49-F238E27FC236}">
                <a16:creationId xmlns:a16="http://schemas.microsoft.com/office/drawing/2014/main" id="{71A96379-9975-4BF8-A8F5-ADD852F3CC66}"/>
              </a:ext>
            </a:extLst>
          </p:cNvPr>
          <p:cNvSpPr>
            <a:spLocks xmlns:a="http://schemas.openxmlformats.org/drawingml/2006/main" noGrp="1"/>
          </p:cNvSpPr>
          <p:nvPr/>
        </p:nvSpPr>
        <p:spPr>
          <a:xfrm xmlns:a="http://schemas.openxmlformats.org/drawingml/2006/main">
            <a:off x="3467100" y="2105025"/>
            <a:ext cx="2057400" cy="238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975" b="1">
                <a:solidFill>
                  <a:srgbClr val="2D6A8A"/>
                </a:solidFill>
                <a:latin typeface="Arial"/>
                <a:ea typeface="Arial"/>
                <a:cs typeface="Arial"/>
              </a:defRPr>
            </a:defPPr>
          </a:lstStyle>
          <a:p xmlns:a="http://schemas.openxmlformats.org/drawingml/2006/main">
            <a:pPr algn="l">
              <a:defRPr sz="975" b="1">
                <a:solidFill>
                  <a:srgbClr val="2D6A8A"/>
                </a:solidFill>
                <a:latin typeface="Arial"/>
                <a:ea typeface="Arial"/>
                <a:cs typeface="Arial"/>
              </a:defRPr>
            </a:pPr>
            <a:r>
              <a:rPr sz="975" b="1">
                <a:solidFill>
                  <a:srgbClr val="2D6A8A"/>
                </a:solidFill>
                <a:latin typeface="Arial"/>
                <a:ea typeface="Arial"/>
                <a:cs typeface="Arial"/>
              </a:rPr>
              <a:t>02  FAMILY MODEL</a:t>
            </a:r>
          </a:p>
        </p:txBody>
      </p:sp>
      <p:sp>
        <p:nvSpPr>
          <p:cNvPr id="17" name="">
            <a:extLst xmlns:a="http://schemas.openxmlformats.org/drawingml/2006/main">
              <a:ext uri="{FF2B5EF4-FFF2-40B4-BE49-F238E27FC236}">
                <a16:creationId xmlns:a16="http://schemas.microsoft.com/office/drawing/2014/main" id="{2C82DFD0-B1E4-45ED-A9DF-C7DF456CE53F}"/>
              </a:ext>
            </a:extLst>
          </p:cNvPr>
          <p:cNvSpPr>
            <a:spLocks xmlns:a="http://schemas.openxmlformats.org/drawingml/2006/main" noGrp="1"/>
          </p:cNvSpPr>
          <p:nvPr/>
        </p:nvSpPr>
        <p:spPr>
          <a:xfrm xmlns:a="http://schemas.openxmlformats.org/drawingml/2006/main">
            <a:off x="3467100" y="2466975"/>
            <a:ext cx="20574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425" b="1">
                <a:solidFill>
                  <a:srgbClr val="102A43"/>
                </a:solidFill>
                <a:latin typeface="Arial"/>
                <a:ea typeface="Arial"/>
                <a:cs typeface="Arial"/>
              </a:defRPr>
            </a:defPPr>
          </a:lstStyle>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One model per family</a:t>
            </a:r>
          </a:p>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4-seam, sinker, slider…</a:t>
            </a:r>
          </a:p>
        </p:txBody>
      </p:sp>
      <p:sp>
        <p:nvSpPr>
          <p:cNvPr id="18" name="">
            <a:extLst xmlns:a="http://schemas.openxmlformats.org/drawingml/2006/main">
              <a:ext uri="{FF2B5EF4-FFF2-40B4-BE49-F238E27FC236}">
                <a16:creationId xmlns:a16="http://schemas.microsoft.com/office/drawing/2014/main" id="{AC7DE3A7-D887-418F-B3D5-A3E5DAFC9800}"/>
              </a:ext>
            </a:extLst>
          </p:cNvPr>
          <p:cNvSpPr>
            <a:spLocks xmlns:a="http://schemas.openxmlformats.org/drawingml/2006/main" noGrp="1"/>
          </p:cNvSpPr>
          <p:nvPr/>
        </p:nvSpPr>
        <p:spPr>
          <a:xfrm xmlns:a="http://schemas.openxmlformats.org/drawingml/2006/main">
            <a:off x="3467100" y="3114675"/>
            <a:ext cx="2038350" cy="4953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125" b="0">
                <a:solidFill>
                  <a:srgbClr val="536471"/>
                </a:solidFill>
                <a:latin typeface="Arial"/>
                <a:ea typeface="Arial"/>
                <a:cs typeface="Arial"/>
              </a:defRPr>
            </a:defPPr>
          </a:lstStyle>
          <a:p xmlns:a="http://schemas.openxmlformats.org/drawingml/2006/main">
            <a:pPr algn="l">
              <a:defRPr sz="1125" b="0">
                <a:solidFill>
                  <a:srgbClr val="536471"/>
                </a:solidFill>
                <a:latin typeface="Arial"/>
                <a:ea typeface="Arial"/>
                <a:cs typeface="Arial"/>
              </a:defRPr>
            </a:pPr>
            <a:r>
              <a:rPr sz="1125" b="0">
                <a:solidFill>
                  <a:srgbClr val="536471"/>
                </a:solidFill>
                <a:latin typeface="Arial"/>
                <a:ea typeface="Arial"/>
                <a:cs typeface="Arial"/>
              </a:rPr>
              <a:t>Predicts adjusted run value; compared with a family baseline.</a:t>
            </a:r>
          </a:p>
        </p:txBody>
      </p:sp>
      <p:sp>
        <p:nvSpPr>
          <p:cNvPr id="19" name="">
            <a:extLst xmlns:a="http://schemas.openxmlformats.org/drawingml/2006/main">
              <a:ext uri="{FF2B5EF4-FFF2-40B4-BE49-F238E27FC236}">
                <a16:creationId xmlns:a16="http://schemas.microsoft.com/office/drawing/2014/main" id="{37A63DB5-105A-44E0-9785-DAD1B781DA87}"/>
              </a:ext>
            </a:extLst>
          </p:cNvPr>
          <p:cNvSpPr>
            <a:spLocks xmlns:a="http://schemas.openxmlformats.org/drawingml/2006/main" noGrp="1"/>
          </p:cNvSpPr>
          <p:nvPr/>
        </p:nvSpPr>
        <p:spPr>
          <a:xfrm xmlns:a="http://schemas.openxmlformats.org/drawingml/2006/main">
            <a:off x="5734050" y="2790825"/>
            <a:ext cx="190500" cy="28575"/>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20" name="">
            <a:extLst xmlns:a="http://schemas.openxmlformats.org/drawingml/2006/main">
              <a:ext uri="{FF2B5EF4-FFF2-40B4-BE49-F238E27FC236}">
                <a16:creationId xmlns:a16="http://schemas.microsoft.com/office/drawing/2014/main" id="{51468C28-135A-447A-8CCB-2A9816B40140}"/>
              </a:ext>
            </a:extLst>
          </p:cNvPr>
          <p:cNvSpPr>
            <a:spLocks xmlns:a="http://schemas.openxmlformats.org/drawingml/2006/main" noGrp="1"/>
          </p:cNvSpPr>
          <p:nvPr/>
        </p:nvSpPr>
        <p:spPr>
          <a:xfrm xmlns:a="http://schemas.openxmlformats.org/drawingml/2006/main">
            <a:off x="5962650" y="1914525"/>
            <a:ext cx="2438400" cy="18669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solidFill>
              <a:srgbClr val="FFFFFF"/>
            </a:solidFill>
            <a:prstDash val="solid"/>
          </a:ln>
        </p:spPr>
      </p:sp>
      <p:sp>
        <p:nvSpPr>
          <p:cNvPr id="21" name="">
            <a:extLst xmlns:a="http://schemas.openxmlformats.org/drawingml/2006/main">
              <a:ext uri="{FF2B5EF4-FFF2-40B4-BE49-F238E27FC236}">
                <a16:creationId xmlns:a16="http://schemas.microsoft.com/office/drawing/2014/main" id="{0D8DAE0E-A277-4100-A6BB-00A3A69F5209}"/>
              </a:ext>
            </a:extLst>
          </p:cNvPr>
          <p:cNvSpPr>
            <a:spLocks xmlns:a="http://schemas.openxmlformats.org/drawingml/2006/main" noGrp="1"/>
          </p:cNvSpPr>
          <p:nvPr/>
        </p:nvSpPr>
        <p:spPr>
          <a:xfrm xmlns:a="http://schemas.openxmlformats.org/drawingml/2006/main">
            <a:off x="5962650" y="1914525"/>
            <a:ext cx="76200" cy="1866900"/>
          </a:xfrm>
          <a:prstGeom xmlns:a="http://schemas.openxmlformats.org/drawingml/2006/main" prst="rect">
            <a:avLst/>
          </a:prstGeom>
          <a:solidFill xmlns:a="http://schemas.openxmlformats.org/drawingml/2006/main">
            <a:srgbClr val="2D6A8A"/>
          </a:solidFill>
          <a:ln xmlns:a="http://schemas.openxmlformats.org/drawingml/2006/main" w="0">
            <a:solidFill>
              <a:srgbClr val="2D6A8A"/>
            </a:solidFill>
            <a:prstDash val="solid"/>
          </a:ln>
        </p:spPr>
      </p:sp>
      <p:sp>
        <p:nvSpPr>
          <p:cNvPr id="22" name="">
            <a:extLst xmlns:a="http://schemas.openxmlformats.org/drawingml/2006/main">
              <a:ext uri="{FF2B5EF4-FFF2-40B4-BE49-F238E27FC236}">
                <a16:creationId xmlns:a16="http://schemas.microsoft.com/office/drawing/2014/main" id="{6760EB53-AA75-43FF-99D0-C234A5A70CA4}"/>
              </a:ext>
            </a:extLst>
          </p:cNvPr>
          <p:cNvSpPr>
            <a:spLocks xmlns:a="http://schemas.openxmlformats.org/drawingml/2006/main" noGrp="1"/>
          </p:cNvSpPr>
          <p:nvPr/>
        </p:nvSpPr>
        <p:spPr>
          <a:xfrm xmlns:a="http://schemas.openxmlformats.org/drawingml/2006/main">
            <a:off x="6172200" y="2105025"/>
            <a:ext cx="2057400" cy="238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975" b="1">
                <a:solidFill>
                  <a:srgbClr val="2D6A8A"/>
                </a:solidFill>
                <a:latin typeface="Arial"/>
                <a:ea typeface="Arial"/>
                <a:cs typeface="Arial"/>
              </a:defRPr>
            </a:defPPr>
          </a:lstStyle>
          <a:p xmlns:a="http://schemas.openxmlformats.org/drawingml/2006/main">
            <a:pPr algn="l">
              <a:defRPr sz="975" b="1">
                <a:solidFill>
                  <a:srgbClr val="2D6A8A"/>
                </a:solidFill>
                <a:latin typeface="Arial"/>
                <a:ea typeface="Arial"/>
                <a:cs typeface="Arial"/>
              </a:defRPr>
            </a:pPr>
            <a:r>
              <a:rPr sz="975" b="1">
                <a:solidFill>
                  <a:srgbClr val="2D6A8A"/>
                </a:solidFill>
                <a:latin typeface="Arial"/>
                <a:ea typeface="Arial"/>
                <a:cs typeface="Arial"/>
              </a:rPr>
              <a:t>03  CONTEXT ADJUSTMENT</a:t>
            </a:r>
          </a:p>
        </p:txBody>
      </p:sp>
      <p:sp>
        <p:nvSpPr>
          <p:cNvPr id="23" name="">
            <a:extLst xmlns:a="http://schemas.openxmlformats.org/drawingml/2006/main">
              <a:ext uri="{FF2B5EF4-FFF2-40B4-BE49-F238E27FC236}">
                <a16:creationId xmlns:a16="http://schemas.microsoft.com/office/drawing/2014/main" id="{69916EFD-0165-4767-AEC1-E9E8938F2BC4}"/>
              </a:ext>
            </a:extLst>
          </p:cNvPr>
          <p:cNvSpPr>
            <a:spLocks xmlns:a="http://schemas.openxmlformats.org/drawingml/2006/main" noGrp="1"/>
          </p:cNvSpPr>
          <p:nvPr/>
        </p:nvSpPr>
        <p:spPr>
          <a:xfrm xmlns:a="http://schemas.openxmlformats.org/drawingml/2006/main">
            <a:off x="6172200" y="2466975"/>
            <a:ext cx="20574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425" b="1">
                <a:solidFill>
                  <a:srgbClr val="102A43"/>
                </a:solidFill>
                <a:latin typeface="Arial"/>
                <a:ea typeface="Arial"/>
                <a:cs typeface="Arial"/>
              </a:defRPr>
            </a:defPPr>
          </a:lstStyle>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Remove estimated effects of</a:t>
            </a:r>
          </a:p>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location, count, batter context</a:t>
            </a:r>
          </a:p>
        </p:txBody>
      </p:sp>
      <p:sp>
        <p:nvSpPr>
          <p:cNvPr id="24" name="">
            <a:extLst xmlns:a="http://schemas.openxmlformats.org/drawingml/2006/main">
              <a:ext uri="{FF2B5EF4-FFF2-40B4-BE49-F238E27FC236}">
                <a16:creationId xmlns:a16="http://schemas.microsoft.com/office/drawing/2014/main" id="{9C5EA0D3-0AC4-499B-BAFF-F0DAB9F01B0D}"/>
              </a:ext>
            </a:extLst>
          </p:cNvPr>
          <p:cNvSpPr>
            <a:spLocks xmlns:a="http://schemas.openxmlformats.org/drawingml/2006/main" noGrp="1"/>
          </p:cNvSpPr>
          <p:nvPr/>
        </p:nvSpPr>
        <p:spPr>
          <a:xfrm xmlns:a="http://schemas.openxmlformats.org/drawingml/2006/main">
            <a:off x="6172200" y="3114675"/>
            <a:ext cx="2038350" cy="4953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125" b="0">
                <a:solidFill>
                  <a:srgbClr val="536471"/>
                </a:solidFill>
                <a:latin typeface="Arial"/>
                <a:ea typeface="Arial"/>
                <a:cs typeface="Arial"/>
              </a:defRPr>
            </a:defPPr>
          </a:lstStyle>
          <a:p xmlns:a="http://schemas.openxmlformats.org/drawingml/2006/main">
            <a:pPr algn="l">
              <a:defRPr sz="1125" b="0">
                <a:solidFill>
                  <a:srgbClr val="536471"/>
                </a:solidFill>
                <a:latin typeface="Arial"/>
                <a:ea typeface="Arial"/>
                <a:cs typeface="Arial"/>
              </a:defRPr>
            </a:pPr>
            <a:r>
              <a:rPr sz="1125" b="0">
                <a:solidFill>
                  <a:srgbClr val="536471"/>
                </a:solidFill>
                <a:latin typeface="Arial"/>
                <a:ea typeface="Arial"/>
                <a:cs typeface="Arial"/>
              </a:rPr>
              <a:t>An adjustment step, not causal identification.</a:t>
            </a:r>
          </a:p>
        </p:txBody>
      </p:sp>
      <p:sp>
        <p:nvSpPr>
          <p:cNvPr id="25" name="">
            <a:extLst xmlns:a="http://schemas.openxmlformats.org/drawingml/2006/main">
              <a:ext uri="{FF2B5EF4-FFF2-40B4-BE49-F238E27FC236}">
                <a16:creationId xmlns:a16="http://schemas.microsoft.com/office/drawing/2014/main" id="{46156F8B-0504-44DA-8811-661206E14E9C}"/>
              </a:ext>
            </a:extLst>
          </p:cNvPr>
          <p:cNvSpPr>
            <a:spLocks xmlns:a="http://schemas.openxmlformats.org/drawingml/2006/main" noGrp="1"/>
          </p:cNvSpPr>
          <p:nvPr/>
        </p:nvSpPr>
        <p:spPr>
          <a:xfrm xmlns:a="http://schemas.openxmlformats.org/drawingml/2006/main">
            <a:off x="8439150" y="2790825"/>
            <a:ext cx="190500" cy="28575"/>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26" name="">
            <a:extLst xmlns:a="http://schemas.openxmlformats.org/drawingml/2006/main">
              <a:ext uri="{FF2B5EF4-FFF2-40B4-BE49-F238E27FC236}">
                <a16:creationId xmlns:a16="http://schemas.microsoft.com/office/drawing/2014/main" id="{B027EC5A-C48F-409C-B4F7-1C93E71E935B}"/>
              </a:ext>
            </a:extLst>
          </p:cNvPr>
          <p:cNvSpPr>
            <a:spLocks xmlns:a="http://schemas.openxmlformats.org/drawingml/2006/main" noGrp="1"/>
          </p:cNvSpPr>
          <p:nvPr/>
        </p:nvSpPr>
        <p:spPr>
          <a:xfrm xmlns:a="http://schemas.openxmlformats.org/drawingml/2006/main">
            <a:off x="8667750" y="1914525"/>
            <a:ext cx="2438400" cy="18669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solidFill>
              <a:srgbClr val="FFFFFF"/>
            </a:solidFill>
            <a:prstDash val="solid"/>
          </a:ln>
        </p:spPr>
      </p:sp>
      <p:sp>
        <p:nvSpPr>
          <p:cNvPr id="27" name="">
            <a:extLst xmlns:a="http://schemas.openxmlformats.org/drawingml/2006/main">
              <a:ext uri="{FF2B5EF4-FFF2-40B4-BE49-F238E27FC236}">
                <a16:creationId xmlns:a16="http://schemas.microsoft.com/office/drawing/2014/main" id="{521B6573-0083-4955-8B49-83977F057C5A}"/>
              </a:ext>
            </a:extLst>
          </p:cNvPr>
          <p:cNvSpPr>
            <a:spLocks xmlns:a="http://schemas.openxmlformats.org/drawingml/2006/main" noGrp="1"/>
          </p:cNvSpPr>
          <p:nvPr/>
        </p:nvSpPr>
        <p:spPr>
          <a:xfrm xmlns:a="http://schemas.openxmlformats.org/drawingml/2006/main">
            <a:off x="8667750" y="1914525"/>
            <a:ext cx="76200" cy="1866900"/>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28" name="">
            <a:extLst xmlns:a="http://schemas.openxmlformats.org/drawingml/2006/main">
              <a:ext uri="{FF2B5EF4-FFF2-40B4-BE49-F238E27FC236}">
                <a16:creationId xmlns:a16="http://schemas.microsoft.com/office/drawing/2014/main" id="{8E440BE1-5875-4207-83B6-84ECA45AED12}"/>
              </a:ext>
            </a:extLst>
          </p:cNvPr>
          <p:cNvSpPr>
            <a:spLocks xmlns:a="http://schemas.openxmlformats.org/drawingml/2006/main" noGrp="1"/>
          </p:cNvSpPr>
          <p:nvPr/>
        </p:nvSpPr>
        <p:spPr>
          <a:xfrm xmlns:a="http://schemas.openxmlformats.org/drawingml/2006/main">
            <a:off x="8877300" y="2105025"/>
            <a:ext cx="2057400" cy="238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975" b="1">
                <a:solidFill>
                  <a:srgbClr val="D64045"/>
                </a:solidFill>
                <a:latin typeface="Arial"/>
                <a:ea typeface="Arial"/>
                <a:cs typeface="Arial"/>
              </a:defRPr>
            </a:defPPr>
          </a:lstStyle>
          <a:p xmlns:a="http://schemas.openxmlformats.org/drawingml/2006/main">
            <a:pPr algn="l">
              <a:defRPr sz="975" b="1">
                <a:solidFill>
                  <a:srgbClr val="D64045"/>
                </a:solidFill>
                <a:latin typeface="Arial"/>
                <a:ea typeface="Arial"/>
                <a:cs typeface="Arial"/>
              </a:defRPr>
            </a:pPr>
            <a:r>
              <a:rPr sz="975" b="1">
                <a:solidFill>
                  <a:srgbClr val="D64045"/>
                </a:solidFill>
                <a:latin typeface="Arial"/>
                <a:ea typeface="Arial"/>
                <a:cs typeface="Arial"/>
              </a:rPr>
              <a:t>04  STUFF+ SCALE</a:t>
            </a:r>
          </a:p>
        </p:txBody>
      </p:sp>
      <p:sp>
        <p:nvSpPr>
          <p:cNvPr id="29" name="">
            <a:extLst xmlns:a="http://schemas.openxmlformats.org/drawingml/2006/main">
              <a:ext uri="{FF2B5EF4-FFF2-40B4-BE49-F238E27FC236}">
                <a16:creationId xmlns:a16="http://schemas.microsoft.com/office/drawing/2014/main" id="{401B0507-C2A4-47F0-B1EE-034596E81866}"/>
              </a:ext>
            </a:extLst>
          </p:cNvPr>
          <p:cNvSpPr>
            <a:spLocks xmlns:a="http://schemas.openxmlformats.org/drawingml/2006/main" noGrp="1"/>
          </p:cNvSpPr>
          <p:nvPr/>
        </p:nvSpPr>
        <p:spPr>
          <a:xfrm xmlns:a="http://schemas.openxmlformats.org/drawingml/2006/main">
            <a:off x="8877300" y="2466975"/>
            <a:ext cx="20574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425" b="1">
                <a:solidFill>
                  <a:srgbClr val="102A43"/>
                </a:solidFill>
                <a:latin typeface="Arial"/>
                <a:ea typeface="Arial"/>
                <a:cs typeface="Arial"/>
              </a:defRPr>
            </a:defPPr>
          </a:lstStyle>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Family-relative score</a:t>
            </a:r>
          </a:p>
          <a:p xmlns:a="http://schemas.openxmlformats.org/drawingml/2006/main">
            <a:pPr algn="l">
              <a:defRPr sz="1425" b="1">
                <a:solidFill>
                  <a:srgbClr val="102A43"/>
                </a:solidFill>
                <a:latin typeface="Arial"/>
                <a:ea typeface="Arial"/>
                <a:cs typeface="Arial"/>
              </a:defRPr>
            </a:pPr>
            <a:r>
              <a:rPr sz="1425" b="1">
                <a:solidFill>
                  <a:srgbClr val="102A43"/>
                </a:solidFill>
                <a:latin typeface="Arial"/>
                <a:ea typeface="Arial"/>
                <a:cs typeface="Arial"/>
              </a:rPr>
              <a:t>100 = family mean</a:t>
            </a:r>
          </a:p>
        </p:txBody>
      </p:sp>
      <p:sp>
        <p:nvSpPr>
          <p:cNvPr id="30" name="">
            <a:extLst xmlns:a="http://schemas.openxmlformats.org/drawingml/2006/main">
              <a:ext uri="{FF2B5EF4-FFF2-40B4-BE49-F238E27FC236}">
                <a16:creationId xmlns:a16="http://schemas.microsoft.com/office/drawing/2014/main" id="{E9920BD6-0205-4C0A-A935-DEFB24B7EC6C}"/>
              </a:ext>
            </a:extLst>
          </p:cNvPr>
          <p:cNvSpPr>
            <a:spLocks xmlns:a="http://schemas.openxmlformats.org/drawingml/2006/main" noGrp="1"/>
          </p:cNvSpPr>
          <p:nvPr/>
        </p:nvSpPr>
        <p:spPr>
          <a:xfrm xmlns:a="http://schemas.openxmlformats.org/drawingml/2006/main">
            <a:off x="8877300" y="3114675"/>
            <a:ext cx="2038350" cy="4953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125" b="0">
                <a:solidFill>
                  <a:srgbClr val="536471"/>
                </a:solidFill>
                <a:latin typeface="Arial"/>
                <a:ea typeface="Arial"/>
                <a:cs typeface="Arial"/>
              </a:defRPr>
            </a:defPPr>
          </a:lstStyle>
          <a:p xmlns:a="http://schemas.openxmlformats.org/drawingml/2006/main">
            <a:pPr algn="l">
              <a:defRPr sz="1125" b="0">
                <a:solidFill>
                  <a:srgbClr val="536471"/>
                </a:solidFill>
                <a:latin typeface="Arial"/>
                <a:ea typeface="Arial"/>
                <a:cs typeface="Arial"/>
              </a:defRPr>
            </a:pPr>
            <a:r>
              <a:rPr sz="1125" b="0">
                <a:solidFill>
                  <a:srgbClr val="536471"/>
                </a:solidFill>
                <a:latin typeface="Arial"/>
                <a:ea typeface="Arial"/>
                <a:cs typeface="Arial"/>
              </a:rPr>
              <a:t>10 points = 1 SD on the fitted scale.</a:t>
            </a:r>
          </a:p>
        </p:txBody>
      </p:sp>
      <p:sp>
        <p:nvSpPr>
          <p:cNvPr id="31" name="">
            <a:extLst xmlns:a="http://schemas.openxmlformats.org/drawingml/2006/main">
              <a:ext uri="{FF2B5EF4-FFF2-40B4-BE49-F238E27FC236}">
                <a16:creationId xmlns:a16="http://schemas.microsoft.com/office/drawing/2014/main" id="{6FE32688-D0D4-40A0-936D-436DE89A4A30}"/>
              </a:ext>
            </a:extLst>
          </p:cNvPr>
          <p:cNvSpPr>
            <a:spLocks xmlns:a="http://schemas.openxmlformats.org/drawingml/2006/main" noGrp="1"/>
          </p:cNvSpPr>
          <p:nvPr/>
        </p:nvSpPr>
        <p:spPr>
          <a:xfrm xmlns:a="http://schemas.openxmlformats.org/drawingml/2006/main">
            <a:off x="552450" y="4105275"/>
            <a:ext cx="11049000" cy="1809750"/>
          </a:xfrm>
          <a:prstGeom xmlns:a="http://schemas.openxmlformats.org/drawingml/2006/main" prst="roundRect">
            <a:avLst>
              <a:gd name="adj" fmla="val 7368"/>
            </a:avLst>
          </a:prstGeom>
          <a:solidFill xmlns:a="http://schemas.openxmlformats.org/drawingml/2006/main">
            <a:srgbClr val="EAE5DC"/>
          </a:solidFill>
          <a:ln xmlns:a="http://schemas.openxmlformats.org/drawingml/2006/main" w="0">
            <a:solidFill>
              <a:srgbClr val="EAE5DC"/>
            </a:solidFill>
            <a:prstDash val="solid"/>
          </a:ln>
        </p:spPr>
      </p:sp>
      <p:sp>
        <p:nvSpPr>
          <p:cNvPr id="32" name="">
            <a:extLst xmlns:a="http://schemas.openxmlformats.org/drawingml/2006/main">
              <a:ext uri="{FF2B5EF4-FFF2-40B4-BE49-F238E27FC236}">
                <a16:creationId xmlns:a16="http://schemas.microsoft.com/office/drawing/2014/main" id="{868CC18F-B335-467C-AF90-0F3D4826AEB3}"/>
              </a:ext>
            </a:extLst>
          </p:cNvPr>
          <p:cNvSpPr>
            <a:spLocks xmlns:a="http://schemas.openxmlformats.org/drawingml/2006/main" noGrp="1"/>
          </p:cNvSpPr>
          <p:nvPr/>
        </p:nvSpPr>
        <p:spPr>
          <a:xfrm xmlns:a="http://schemas.openxmlformats.org/drawingml/2006/main">
            <a:off x="800100" y="4295775"/>
            <a:ext cx="6858000" cy="238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D64045"/>
                </a:solidFill>
                <a:latin typeface="Arial"/>
                <a:ea typeface="Arial"/>
                <a:cs typeface="Arial"/>
              </a:defRPr>
            </a:defPPr>
          </a:lstStyle>
          <a:p xmlns:a="http://schemas.openxmlformats.org/drawingml/2006/main">
            <a:pPr algn="l">
              <a:defRPr sz="1050" b="1">
                <a:solidFill>
                  <a:srgbClr val="D64045"/>
                </a:solidFill>
                <a:latin typeface="Arial"/>
                <a:ea typeface="Arial"/>
                <a:cs typeface="Arial"/>
              </a:defRPr>
            </a:pPr>
            <a:r>
              <a:rPr sz="1050" b="1">
                <a:solidFill>
                  <a:srgbClr val="D64045"/>
                </a:solidFill>
                <a:latin typeface="Arial"/>
                <a:ea typeface="Arial"/>
                <a:cs typeface="Arial"/>
              </a:rPr>
              <a:t>ALTITUDE IS A SEPARATE TRANSPORT STEP</a:t>
            </a:r>
          </a:p>
        </p:txBody>
      </p:sp>
      <p:sp>
        <p:nvSpPr>
          <p:cNvPr id="33" name="">
            <a:extLst xmlns:a="http://schemas.openxmlformats.org/drawingml/2006/main">
              <a:ext uri="{FF2B5EF4-FFF2-40B4-BE49-F238E27FC236}">
                <a16:creationId xmlns:a16="http://schemas.microsoft.com/office/drawing/2014/main" id="{05854938-CAF1-4CFC-83AB-510D72D604FB}"/>
              </a:ext>
            </a:extLst>
          </p:cNvPr>
          <p:cNvSpPr>
            <a:spLocks xmlns:a="http://schemas.openxmlformats.org/drawingml/2006/main" noGrp="1"/>
          </p:cNvSpPr>
          <p:nvPr/>
        </p:nvSpPr>
        <p:spPr>
          <a:xfrm xmlns:a="http://schemas.openxmlformats.org/drawingml/2006/main">
            <a:off x="800100" y="4648200"/>
            <a:ext cx="10239375" cy="3810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575" b="1">
                <a:solidFill>
                  <a:srgbClr val="102A43"/>
                </a:solidFill>
                <a:latin typeface="Arial"/>
                <a:ea typeface="Arial"/>
                <a:cs typeface="Arial"/>
              </a:defRPr>
            </a:defPPr>
          </a:lstStyle>
          <a:p xmlns:a="http://schemas.openxmlformats.org/drawingml/2006/main">
            <a:pPr algn="l">
              <a:defRPr sz="1575" b="1">
                <a:solidFill>
                  <a:srgbClr val="102A43"/>
                </a:solidFill>
                <a:latin typeface="Arial"/>
                <a:ea typeface="Arial"/>
                <a:cs typeface="Arial"/>
              </a:defRPr>
            </a:pPr>
            <a:r>
              <a:rPr sz="1575" b="1">
                <a:solidFill>
                  <a:srgbClr val="102A43"/>
                </a:solidFill>
                <a:latin typeface="Arial"/>
                <a:ea typeface="Arial"/>
                <a:cs typeface="Arial"/>
              </a:rPr>
              <a:t>Altitude category → predict movement change (IVB / HB) → re-score the same pitch profile</a:t>
            </a:r>
          </a:p>
        </p:txBody>
      </p:sp>
      <p:sp>
        <p:nvSpPr>
          <p:cNvPr id="34" name="">
            <a:extLst xmlns:a="http://schemas.openxmlformats.org/drawingml/2006/main">
              <a:ext uri="{FF2B5EF4-FFF2-40B4-BE49-F238E27FC236}">
                <a16:creationId xmlns:a16="http://schemas.microsoft.com/office/drawing/2014/main" id="{F96CAC25-6A9C-4EB3-92F0-6495CFA53173}"/>
              </a:ext>
            </a:extLst>
          </p:cNvPr>
          <p:cNvSpPr>
            <a:spLocks xmlns:a="http://schemas.openxmlformats.org/drawingml/2006/main" noGrp="1"/>
          </p:cNvSpPr>
          <p:nvPr/>
        </p:nvSpPr>
        <p:spPr>
          <a:xfrm xmlns:a="http://schemas.openxmlformats.org/drawingml/2006/main">
            <a:off x="800100" y="5143500"/>
            <a:ext cx="10096500" cy="5429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200" b="0">
                <a:solidFill>
                  <a:srgbClr val="14212B"/>
                </a:solidFill>
                <a:latin typeface="Arial"/>
                <a:ea typeface="Arial"/>
                <a:cs typeface="Arial"/>
              </a:defRPr>
            </a:defPPr>
          </a:lstStyle>
          <a:p xmlns:a="http://schemas.openxmlformats.org/drawingml/2006/main">
            <a:pPr algn="l">
              <a:defRPr sz="1200" b="0">
                <a:solidFill>
                  <a:srgbClr val="14212B"/>
                </a:solidFill>
                <a:latin typeface="Arial"/>
                <a:ea typeface="Arial"/>
                <a:cs typeface="Arial"/>
              </a:defRPr>
            </a:pPr>
            <a:r>
              <a:rPr sz="1200" b="0">
                <a:solidFill>
                  <a:srgbClr val="14212B"/>
                </a:solidFill>
                <a:latin typeface="Arial"/>
                <a:ea typeface="Arial"/>
                <a:cs typeface="Arial"/>
              </a:rPr>
              <a:t>This makes altitude visible in the scenario output without making altitude a direct “stuff” feature. It is an observational projection conditional on the movement model—not a causal estimate or a park-specific forecast.</a:t>
            </a:r>
          </a:p>
        </p:txBody>
      </p:sp>
    </p:spTree>
    <p:extLst>
      <p:ext uri="{BB962C8B-B14F-4D97-AF65-F5344CB8AC3E}">
        <p14:creationId xmlns:p14="http://schemas.microsoft.com/office/powerpoint/2010/main" val="63844157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F5FBC4-7131-4ADA-82A8-7D3829E689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2" name="">
            <a:extLst xmlns:a="http://schemas.openxmlformats.org/drawingml/2006/main">
              <a:ext uri="{FF2B5EF4-FFF2-40B4-BE49-F238E27FC236}">
                <a16:creationId xmlns:a16="http://schemas.microsoft.com/office/drawing/2014/main" id="{C4C530FE-DA59-4E15-BBC0-C15A35C1F227}"/>
              </a:ext>
            </a:extLst>
          </p:cNvPr>
          <p:cNvSpPr>
            <a:spLocks xmlns:a="http://schemas.openxmlformats.org/drawingml/2006/main" noGrp="1"/>
          </p:cNvSpPr>
          <p:nvPr/>
        </p:nvSpPr>
        <p:spPr>
          <a:xfrm xmlns:a="http://schemas.openxmlformats.org/drawingml/2006/main">
            <a:off x="552450" y="304800"/>
            <a:ext cx="110490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D64045"/>
                </a:solidFill>
                <a:latin typeface="Arial"/>
                <a:ea typeface="Arial"/>
                <a:cs typeface="Arial"/>
              </a:defRPr>
            </a:defPPr>
          </a:lstStyle>
          <a:p xmlns:a="http://schemas.openxmlformats.org/drawingml/2006/main">
            <a:pPr algn="l">
              <a:defRPr sz="1050" b="1">
                <a:solidFill>
                  <a:srgbClr val="D64045"/>
                </a:solidFill>
                <a:latin typeface="Arial"/>
                <a:ea typeface="Arial"/>
                <a:cs typeface="Arial"/>
              </a:defRPr>
            </a:pPr>
            <a:r>
              <a:rPr sz="1050" b="1">
                <a:solidFill>
                  <a:srgbClr val="D64045"/>
                </a:solidFill>
                <a:latin typeface="Arial"/>
                <a:ea typeface="Arial"/>
                <a:cs typeface="Arial"/>
              </a:rPr>
              <a:t>VALIDATION</a:t>
            </a:r>
          </a:p>
        </p:txBody>
      </p:sp>
      <p:sp>
        <p:nvSpPr>
          <p:cNvPr id="3" name="">
            <a:extLst xmlns:a="http://schemas.openxmlformats.org/drawingml/2006/main">
              <a:ext uri="{FF2B5EF4-FFF2-40B4-BE49-F238E27FC236}">
                <a16:creationId xmlns:a16="http://schemas.microsoft.com/office/drawing/2014/main" id="{78AD37AA-AEA8-4FF2-84B1-FAB371342590}"/>
              </a:ext>
            </a:extLst>
          </p:cNvPr>
          <p:cNvSpPr>
            <a:spLocks xmlns:a="http://schemas.openxmlformats.org/drawingml/2006/main" noGrp="1"/>
          </p:cNvSpPr>
          <p:nvPr/>
        </p:nvSpPr>
        <p:spPr>
          <a:xfrm xmlns:a="http://schemas.openxmlformats.org/drawingml/2006/main">
            <a:off x="552450" y="619125"/>
            <a:ext cx="110490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2550" b="1">
                <a:solidFill>
                  <a:srgbClr val="102A43"/>
                </a:solidFill>
                <a:latin typeface="Arial"/>
                <a:ea typeface="Arial"/>
                <a:cs typeface="Arial"/>
              </a:defRPr>
            </a:defPPr>
          </a:lstStyle>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The simpler linear baseline edged out XGBoost in both evaluations</a:t>
            </a:r>
          </a:p>
        </p:txBody>
      </p:sp>
      <p:sp>
        <p:nvSpPr>
          <p:cNvPr id="4" name="">
            <a:extLst xmlns:a="http://schemas.openxmlformats.org/drawingml/2006/main">
              <a:ext uri="{FF2B5EF4-FFF2-40B4-BE49-F238E27FC236}">
                <a16:creationId xmlns:a16="http://schemas.microsoft.com/office/drawing/2014/main" id="{1A51B603-F956-4F90-BB90-415963EF9A10}"/>
              </a:ext>
            </a:extLst>
          </p:cNvPr>
          <p:cNvSpPr>
            <a:spLocks xmlns:a="http://schemas.openxmlformats.org/drawingml/2006/main" noGrp="1"/>
          </p:cNvSpPr>
          <p:nvPr/>
        </p:nvSpPr>
        <p:spPr>
          <a:xfrm xmlns:a="http://schemas.openxmlformats.org/drawingml/2006/main">
            <a:off x="552450" y="1171575"/>
            <a:ext cx="110490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75" b="0">
                <a:solidFill>
                  <a:srgbClr val="536471"/>
                </a:solidFill>
                <a:latin typeface="Arial"/>
                <a:ea typeface="Arial"/>
                <a:cs typeface="Arial"/>
              </a:defRPr>
            </a:defPPr>
          </a:lstStyle>
          <a:p xmlns:a="http://schemas.openxmlformats.org/drawingml/2006/main">
            <a:pPr algn="l">
              <a:defRPr sz="1275" b="0">
                <a:solidFill>
                  <a:srgbClr val="536471"/>
                </a:solidFill>
                <a:latin typeface="Arial"/>
                <a:ea typeface="Arial"/>
                <a:cs typeface="Arial"/>
              </a:defRPr>
            </a:pPr>
            <a:r>
              <a:rPr sz="1275" b="0">
                <a:solidFill>
                  <a:srgbClr val="536471"/>
                </a:solidFill>
                <a:latin typeface="Arial"/>
                <a:ea typeface="Arial"/>
                <a:cs typeface="Arial"/>
              </a:rPr>
              <a:t>Lower RMSE is better. Differences are small; results support further comparison, not a final model claim.</a:t>
            </a:r>
          </a:p>
        </p:txBody>
      </p:sp>
      <p:sp>
        <p:nvSpPr>
          <p:cNvPr id="5" name="">
            <a:extLst xmlns:a="http://schemas.openxmlformats.org/drawingml/2006/main">
              <a:ext uri="{FF2B5EF4-FFF2-40B4-BE49-F238E27FC236}">
                <a16:creationId xmlns:a16="http://schemas.microsoft.com/office/drawing/2014/main" id="{08BB00CC-9510-4FAF-BE1B-9C78FEF226BE}"/>
              </a:ext>
            </a:extLst>
          </p:cNvPr>
          <p:cNvSpPr>
            <a:spLocks xmlns:a="http://schemas.openxmlformats.org/drawingml/2006/main" noGrp="1"/>
          </p:cNvSpPr>
          <p:nvPr/>
        </p:nvSpPr>
        <p:spPr>
          <a:xfrm xmlns:a="http://schemas.openxmlformats.org/drawingml/2006/main">
            <a:off x="552450" y="6438900"/>
            <a:ext cx="11049000" cy="9525"/>
          </a:xfrm>
          <a:prstGeom xmlns:a="http://schemas.openxmlformats.org/drawingml/2006/main" prst="rect">
            <a:avLst/>
          </a:prstGeom>
          <a:solidFill xmlns:a="http://schemas.openxmlformats.org/drawingml/2006/main">
            <a:srgbClr val="D7DEE3"/>
          </a:solidFill>
          <a:ln xmlns:a="http://schemas.openxmlformats.org/drawingml/2006/main" w="0">
            <a:solidFill>
              <a:srgbClr val="D7DEE3"/>
            </a:solidFill>
            <a:prstDash val="solid"/>
          </a:ln>
        </p:spPr>
      </p:sp>
      <p:sp>
        <p:nvSpPr>
          <p:cNvPr id="6" name="">
            <a:extLst xmlns:a="http://schemas.openxmlformats.org/drawingml/2006/main">
              <a:ext uri="{FF2B5EF4-FFF2-40B4-BE49-F238E27FC236}">
                <a16:creationId xmlns:a16="http://schemas.microsoft.com/office/drawing/2014/main" id="{E5557BDF-8B0A-430C-89B6-3510A52C6360}"/>
              </a:ext>
            </a:extLst>
          </p:cNvPr>
          <p:cNvSpPr>
            <a:spLocks xmlns:a="http://schemas.openxmlformats.org/drawingml/2006/main" noGrp="1"/>
          </p:cNvSpPr>
          <p:nvPr/>
        </p:nvSpPr>
        <p:spPr>
          <a:xfrm xmlns:a="http://schemas.openxmlformats.org/drawingml/2006/main">
            <a:off x="552450" y="6524625"/>
            <a:ext cx="7620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825" b="1">
                <a:solidFill>
                  <a:srgbClr val="536471"/>
                </a:solidFill>
                <a:latin typeface="Arial"/>
                <a:ea typeface="Arial"/>
                <a:cs typeface="Arial"/>
              </a:defRPr>
            </a:defPPr>
          </a:lstStyle>
          <a:p xmlns:a="http://schemas.openxmlformats.org/drawingml/2006/main">
            <a:pPr algn="l">
              <a:defRPr sz="825" b="1">
                <a:solidFill>
                  <a:srgbClr val="536471"/>
                </a:solidFill>
                <a:latin typeface="Arial"/>
                <a:ea typeface="Arial"/>
                <a:cs typeface="Arial"/>
              </a:defRPr>
            </a:pPr>
            <a:r>
              <a:rPr sz="825" b="1">
                <a:solidFill>
                  <a:srgbClr val="536471"/>
                </a:solidFill>
                <a:latin typeface="Arial"/>
                <a:ea typeface="Arial"/>
                <a:cs typeface="Arial"/>
              </a:rPr>
              <a:t>STUFF+ MODEL UPDATE  •  DIABLOS ROJOS HACKATHON</a:t>
            </a:r>
          </a:p>
        </p:txBody>
      </p:sp>
      <p:sp>
        <p:nvSpPr>
          <p:cNvPr id="7" name="">
            <a:extLst xmlns:a="http://schemas.openxmlformats.org/drawingml/2006/main">
              <a:ext uri="{FF2B5EF4-FFF2-40B4-BE49-F238E27FC236}">
                <a16:creationId xmlns:a16="http://schemas.microsoft.com/office/drawing/2014/main" id="{98413C18-E149-44AF-941F-AE547B6CB610}"/>
              </a:ext>
            </a:extLst>
          </p:cNvPr>
          <p:cNvSpPr>
            <a:spLocks xmlns:a="http://schemas.openxmlformats.org/drawingml/2006/main" noGrp="1"/>
          </p:cNvSpPr>
          <p:nvPr/>
        </p:nvSpPr>
        <p:spPr>
          <a:xfrm xmlns:a="http://schemas.openxmlformats.org/drawingml/2006/main">
            <a:off x="11096625" y="6515100"/>
            <a:ext cx="504825"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r">
              <a:defRPr sz="900" b="1">
                <a:solidFill>
                  <a:srgbClr val="536471"/>
                </a:solidFill>
                <a:latin typeface="Arial"/>
                <a:ea typeface="Arial"/>
                <a:cs typeface="Arial"/>
              </a:defRPr>
            </a:defPPr>
          </a:lstStyle>
          <a:p xmlns:a="http://schemas.openxmlformats.org/drawingml/2006/main">
            <a:pPr algn="r">
              <a:defRPr sz="900" b="1">
                <a:solidFill>
                  <a:srgbClr val="536471"/>
                </a:solidFill>
                <a:latin typeface="Arial"/>
                <a:ea typeface="Arial"/>
                <a:cs typeface="Arial"/>
              </a:defRPr>
            </a:pPr>
            <a:r>
              <a:rPr sz="900" b="1">
                <a:solidFill>
                  <a:srgbClr val="536471"/>
                </a:solidFill>
                <a:latin typeface="Arial"/>
                <a:ea typeface="Arial"/>
                <a:cs typeface="Arial"/>
              </a:rPr>
              <a:t>03</a:t>
            </a:r>
          </a:p>
        </p:txBody>
      </p:sp>
      <p:graphicFrame>
        <p:nvGraphicFramePr>
          <p:cNvPr id="8" name="">
            <a:extLst xmlns:a="http://schemas.openxmlformats.org/drawingml/2006/main">
              <a:ext uri="{FF2B5EF4-FFF2-40B4-BE49-F238E27FC236}">
                <a16:creationId xmlns:a16="http://schemas.microsoft.com/office/drawing/2014/main" id="{D95A1096-9306-448E-BA30-AA6168D6CD21}"/>
              </a:ext>
            </a:extLst>
          </p:cNvPr>
          <p:cNvGraphicFramePr/>
          <p:nvPr/>
        </p:nvGraphicFramePr>
        <p:xfrm>
          <a:off xmlns:a="http://schemas.openxmlformats.org/drawingml/2006/main" x="552450" y="1981200"/>
          <a:ext xmlns:a="http://schemas.openxmlformats.org/drawingml/2006/main" cx="11049000" cy="1924050"/>
        </p:xfrm>
        <a:graphic xmlns:a="http://schemas.openxmlformats.org/drawingml/2006/main">
          <a:graphicData uri="http://schemas.openxmlformats.org/drawingml/2006/table">
            <a:tbl>
              <a:tblPr/>
              <a:tblGrid>
                <a:gridCol w="3238500"/>
                <a:gridCol w="1952625"/>
                <a:gridCol w="1952625"/>
                <a:gridCol w="1952625"/>
                <a:gridCol w="1952625"/>
              </a:tblGrid>
              <a:tr h="641350">
                <a:tc>
                  <a:txBody>
                    <a:bodyPr/>
                    <a:lstStyle/>
                    <a:p>
                      <a:r>
                        <a:rPr b="1">
                          <a:solidFill>
                            <a:srgbClr val="FFFFFF"/>
                          </a:solidFill>
                        </a:rPr>
                        <a:t>Evaluation</a:t>
                      </a:r>
                    </a:p>
                  </a:txBody>
                  <a:tcPr marL="91440" marR="91440" marT="45720" marB="45720">
                    <a:lnL w="9525">
                      <a:solidFill>
                        <a:srgbClr val="D7DEE3"/>
                      </a:solidFill>
                      <a:prstDash val="solid"/>
                    </a:lnL>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c>
                  <a:txBody>
                    <a:bodyPr/>
                    <a:lstStyle/>
                    <a:p>
                      <a:r>
                        <a:rPr b="1">
                          <a:solidFill>
                            <a:srgbClr val="FFFFFF"/>
                          </a:solidFill>
                        </a:rPr>
                        <a:t>Labeled pitches</a:t>
                      </a:r>
                    </a:p>
                  </a:txBody>
                  <a:tcPr marL="91440" marR="91440" marT="45720" marB="45720">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c>
                  <a:txBody>
                    <a:bodyPr/>
                    <a:lstStyle/>
                    <a:p>
                      <a:r>
                        <a:rPr b="1">
                          <a:solidFill>
                            <a:srgbClr val="FFFFFF"/>
                          </a:solidFill>
                        </a:rPr>
                        <a:t>XGBoost RMSE</a:t>
                      </a:r>
                    </a:p>
                  </a:txBody>
                  <a:tcPr marL="91440" marR="91440" marT="45720" marB="45720">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c>
                  <a:txBody>
                    <a:bodyPr/>
                    <a:lstStyle/>
                    <a:p>
                      <a:r>
                        <a:rPr b="1">
                          <a:solidFill>
                            <a:srgbClr val="FFFFFF"/>
                          </a:solidFill>
                        </a:rPr>
                        <a:t>Linear RMSE</a:t>
                      </a:r>
                    </a:p>
                  </a:txBody>
                  <a:tcPr marL="91440" marR="91440" marT="45720" marB="45720">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c>
                  <a:txBody>
                    <a:bodyPr/>
                    <a:lstStyle/>
                    <a:p>
                      <a:r>
                        <a:rPr b="1">
                          <a:solidFill>
                            <a:srgbClr val="FFFFFF"/>
                          </a:solidFill>
                        </a:rPr>
                        <a:t>Constant RMSE</a:t>
                      </a:r>
                    </a:p>
                  </a:txBody>
                  <a:tcPr marL="91440" marR="91440" marT="45720" marB="45720">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r>
              <a:tr h="641350">
                <a:tc>
                  <a:txBody>
                    <a:bodyPr/>
                    <a:lstStyle/>
                    <a:p>
                      <a:r>
                        <a:t>Historical pitcher holdout</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FFFFF"/>
                    </a:solidFill>
                  </a:tcPr>
                </a:tc>
                <a:tc>
                  <a:txBody>
                    <a:bodyPr/>
                    <a:lstStyle/>
                    <a:p>
                      <a:r>
                        <a:t>488,782</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t>0.184614</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rPr b="1">
                          <a:solidFill>
                            <a:srgbClr val="36745A"/>
                          </a:solidFill>
                        </a:rPr>
                        <a:t>0.184473</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t>0.184569</a:t>
                      </a:r>
                    </a:p>
                  </a:txBody>
                  <a:tcPr marL="91440" marR="91440" marT="45720" marB="45720">
                    <a:lnR w="9525">
                      <a:solidFill>
                        <a:srgbClr val="D7DEE3"/>
                      </a:solidFill>
                      <a:prstDash val="solid"/>
                    </a:lnR>
                    <a:lnB w="9525">
                      <a:solidFill>
                        <a:srgbClr val="D7DEE3"/>
                      </a:solidFill>
                      <a:prstDash val="solid"/>
                    </a:lnB>
                    <a:solidFill>
                      <a:srgbClr val="FFFFFF"/>
                    </a:solidFill>
                  </a:tcPr>
                </a:tc>
              </a:tr>
              <a:tr h="641350">
                <a:tc>
                  <a:txBody>
                    <a:bodyPr/>
                    <a:lstStyle/>
                    <a:p>
                      <a:r>
                        <a:t>2026 season holdout</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0F3F5"/>
                    </a:solidFill>
                  </a:tcPr>
                </a:tc>
                <a:tc>
                  <a:txBody>
                    <a:bodyPr/>
                    <a:lstStyle/>
                    <a:p>
                      <a:r>
                        <a:t>128,471</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t>0.192064</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rPr b="1">
                          <a:solidFill>
                            <a:srgbClr val="36745A"/>
                          </a:solidFill>
                        </a:rPr>
                        <a:t>0.191996</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t>0.192121</a:t>
                      </a:r>
                    </a:p>
                  </a:txBody>
                  <a:tcPr marL="91440" marR="91440" marT="45720" marB="45720">
                    <a:lnR w="9525">
                      <a:solidFill>
                        <a:srgbClr val="D7DEE3"/>
                      </a:solidFill>
                      <a:prstDash val="solid"/>
                    </a:lnR>
                    <a:lnB w="9525">
                      <a:solidFill>
                        <a:srgbClr val="D7DEE3"/>
                      </a:solidFill>
                      <a:prstDash val="solid"/>
                    </a:lnB>
                    <a:solidFill>
                      <a:srgbClr val="F0F3F5"/>
                    </a:solidFill>
                  </a:tcPr>
                </a:tc>
              </a:tr>
            </a:tbl>
          </a:graphicData>
        </a:graphic>
      </p:graphicFrame>
      <p:sp>
        <p:nvSpPr>
          <p:cNvPr id="9" name="">
            <a:extLst xmlns:a="http://schemas.openxmlformats.org/drawingml/2006/main">
              <a:ext uri="{FF2B5EF4-FFF2-40B4-BE49-F238E27FC236}">
                <a16:creationId xmlns:a16="http://schemas.microsoft.com/office/drawing/2014/main" id="{AF68EE83-26B0-49C9-9A42-BC2E4909B56D}"/>
              </a:ext>
            </a:extLst>
          </p:cNvPr>
          <p:cNvSpPr>
            <a:spLocks xmlns:a="http://schemas.openxmlformats.org/drawingml/2006/main" noGrp="1"/>
          </p:cNvSpPr>
          <p:nvPr/>
        </p:nvSpPr>
        <p:spPr>
          <a:xfrm xmlns:a="http://schemas.openxmlformats.org/drawingml/2006/main">
            <a:off x="552450" y="4229100"/>
            <a:ext cx="5219700" cy="1581150"/>
          </a:xfrm>
          <a:prstGeom xmlns:a="http://schemas.openxmlformats.org/drawingml/2006/main" prst="roundRect">
            <a:avLst>
              <a:gd name="adj" fmla="val 8434"/>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F31D59DE-3805-4C3E-9BF4-45499A87FB9C}"/>
              </a:ext>
            </a:extLst>
          </p:cNvPr>
          <p:cNvSpPr>
            <a:spLocks xmlns:a="http://schemas.openxmlformats.org/drawingml/2006/main" noGrp="1"/>
          </p:cNvSpPr>
          <p:nvPr/>
        </p:nvSpPr>
        <p:spPr>
          <a:xfrm xmlns:a="http://schemas.openxmlformats.org/drawingml/2006/main">
            <a:off x="781050" y="4438650"/>
            <a:ext cx="45720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D64045"/>
                </a:solidFill>
                <a:latin typeface="Arial"/>
                <a:ea typeface="Arial"/>
                <a:cs typeface="Arial"/>
              </a:defRPr>
            </a:defPPr>
          </a:lstStyle>
          <a:p xmlns:a="http://schemas.openxmlformats.org/drawingml/2006/main">
            <a:pPr algn="l">
              <a:defRPr sz="1050" b="1">
                <a:solidFill>
                  <a:srgbClr val="D64045"/>
                </a:solidFill>
                <a:latin typeface="Arial"/>
                <a:ea typeface="Arial"/>
                <a:cs typeface="Arial"/>
              </a:defRPr>
            </a:pPr>
            <a:r>
              <a:rPr sz="1050" b="1">
                <a:solidFill>
                  <a:srgbClr val="D64045"/>
                </a:solidFill>
                <a:latin typeface="Arial"/>
                <a:ea typeface="Arial"/>
                <a:cs typeface="Arial"/>
              </a:rPr>
              <a:t>WHAT THE NUMBERS SAY</a:t>
            </a:r>
          </a:p>
        </p:txBody>
      </p:sp>
      <p:sp>
        <p:nvSpPr>
          <p:cNvPr id="11" name="">
            <a:extLst xmlns:a="http://schemas.openxmlformats.org/drawingml/2006/main">
              <a:ext uri="{FF2B5EF4-FFF2-40B4-BE49-F238E27FC236}">
                <a16:creationId xmlns:a16="http://schemas.microsoft.com/office/drawing/2014/main" id="{BC45E3A6-0ABE-49C3-9A75-67DED7482C9D}"/>
              </a:ext>
            </a:extLst>
          </p:cNvPr>
          <p:cNvSpPr>
            <a:spLocks xmlns:a="http://schemas.openxmlformats.org/drawingml/2006/main" noGrp="1"/>
          </p:cNvSpPr>
          <p:nvPr/>
        </p:nvSpPr>
        <p:spPr>
          <a:xfrm xmlns:a="http://schemas.openxmlformats.org/drawingml/2006/main">
            <a:off x="781050" y="4829175"/>
            <a:ext cx="4667250" cy="63817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275" b="0">
                <a:solidFill>
                  <a:srgbClr val="14212B"/>
                </a:solidFill>
                <a:latin typeface="Arial"/>
                <a:ea typeface="Arial"/>
                <a:cs typeface="Arial"/>
              </a:defRPr>
            </a:defPPr>
          </a:lstStyle>
          <a:p xmlns:a="http://schemas.openxmlformats.org/drawingml/2006/main">
            <a:pPr algn="l">
              <a:defRPr sz="1275" b="0">
                <a:solidFill>
                  <a:srgbClr val="14212B"/>
                </a:solidFill>
                <a:latin typeface="Arial"/>
                <a:ea typeface="Arial"/>
                <a:cs typeface="Arial"/>
              </a:defRPr>
            </a:pPr>
            <a:r>
              <a:rPr sz="1275" b="0">
                <a:solidFill>
                  <a:srgbClr val="14212B"/>
                </a:solidFill>
                <a:latin typeface="Arial"/>
                <a:ea typeface="Arial"/>
                <a:cs typeface="Arial"/>
              </a:rPr>
              <a:t>Historical: XGBoost MSE improvement vs constant = −0.049% (95% interval −0.081% to −0.018%).</a:t>
            </a:r>
          </a:p>
        </p:txBody>
      </p:sp>
      <p:sp>
        <p:nvSpPr>
          <p:cNvPr id="12" name="">
            <a:extLst xmlns:a="http://schemas.openxmlformats.org/drawingml/2006/main">
              <a:ext uri="{FF2B5EF4-FFF2-40B4-BE49-F238E27FC236}">
                <a16:creationId xmlns:a16="http://schemas.microsoft.com/office/drawing/2014/main" id="{BF958619-954D-4533-AFEF-6C58F98E8286}"/>
              </a:ext>
            </a:extLst>
          </p:cNvPr>
          <p:cNvSpPr>
            <a:spLocks xmlns:a="http://schemas.openxmlformats.org/drawingml/2006/main" noGrp="1"/>
          </p:cNvSpPr>
          <p:nvPr/>
        </p:nvSpPr>
        <p:spPr>
          <a:xfrm xmlns:a="http://schemas.openxmlformats.org/drawingml/2006/main">
            <a:off x="6019800" y="4229100"/>
            <a:ext cx="5581650" cy="1581150"/>
          </a:xfrm>
          <a:prstGeom xmlns:a="http://schemas.openxmlformats.org/drawingml/2006/main" prst="roundRect">
            <a:avLst>
              <a:gd name="adj" fmla="val 8434"/>
            </a:avLst>
          </a:prstGeom>
          <a:solidFill xmlns:a="http://schemas.openxmlformats.org/drawingml/2006/main">
            <a:srgbClr val="102A43"/>
          </a:solidFill>
          <a:ln xmlns:a="http://schemas.openxmlformats.org/drawingml/2006/main" w="0">
            <a:solidFill>
              <a:srgbClr val="102A43"/>
            </a:solidFill>
            <a:prstDash val="solid"/>
          </a:ln>
        </p:spPr>
      </p:sp>
      <p:sp>
        <p:nvSpPr>
          <p:cNvPr id="13" name="">
            <a:extLst xmlns:a="http://schemas.openxmlformats.org/drawingml/2006/main">
              <a:ext uri="{FF2B5EF4-FFF2-40B4-BE49-F238E27FC236}">
                <a16:creationId xmlns:a16="http://schemas.microsoft.com/office/drawing/2014/main" id="{A268EB69-E373-45CB-B7EA-0FC2B0BF1060}"/>
              </a:ext>
            </a:extLst>
          </p:cNvPr>
          <p:cNvSpPr>
            <a:spLocks xmlns:a="http://schemas.openxmlformats.org/drawingml/2006/main" noGrp="1"/>
          </p:cNvSpPr>
          <p:nvPr/>
        </p:nvSpPr>
        <p:spPr>
          <a:xfrm xmlns:a="http://schemas.openxmlformats.org/drawingml/2006/main">
            <a:off x="6248400" y="4438650"/>
            <a:ext cx="4762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F1A7A4"/>
                </a:solidFill>
                <a:latin typeface="Arial"/>
                <a:ea typeface="Arial"/>
                <a:cs typeface="Arial"/>
              </a:defRPr>
            </a:defPPr>
          </a:lstStyle>
          <a:p xmlns:a="http://schemas.openxmlformats.org/drawingml/2006/main">
            <a:pPr algn="l">
              <a:defRPr sz="1050" b="1">
                <a:solidFill>
                  <a:srgbClr val="F1A7A4"/>
                </a:solidFill>
                <a:latin typeface="Arial"/>
                <a:ea typeface="Arial"/>
                <a:cs typeface="Arial"/>
              </a:defRPr>
            </a:pPr>
            <a:r>
              <a:rPr sz="1050" b="1">
                <a:solidFill>
                  <a:srgbClr val="F1A7A4"/>
                </a:solidFill>
                <a:latin typeface="Arial"/>
                <a:ea typeface="Arial"/>
                <a:cs typeface="Arial"/>
              </a:rPr>
              <a:t>INTERPRETATION</a:t>
            </a:r>
          </a:p>
        </p:txBody>
      </p:sp>
      <p:sp>
        <p:nvSpPr>
          <p:cNvPr id="14" name="">
            <a:extLst xmlns:a="http://schemas.openxmlformats.org/drawingml/2006/main">
              <a:ext uri="{FF2B5EF4-FFF2-40B4-BE49-F238E27FC236}">
                <a16:creationId xmlns:a16="http://schemas.microsoft.com/office/drawing/2014/main" id="{F584AE28-F4E4-4C5D-BEE7-A5C1C6BE2527}"/>
              </a:ext>
            </a:extLst>
          </p:cNvPr>
          <p:cNvSpPr>
            <a:spLocks xmlns:a="http://schemas.openxmlformats.org/drawingml/2006/main" noGrp="1"/>
          </p:cNvSpPr>
          <p:nvPr/>
        </p:nvSpPr>
        <p:spPr>
          <a:xfrm xmlns:a="http://schemas.openxmlformats.org/drawingml/2006/main">
            <a:off x="6248400" y="4829175"/>
            <a:ext cx="5048250" cy="75247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defPPr algn="l">
              <a:defRPr sz="1275" b="0">
                <a:solidFill>
                  <a:srgbClr val="FFFFFF"/>
                </a:solidFill>
                <a:latin typeface="Arial"/>
                <a:ea typeface="Arial"/>
                <a:cs typeface="Arial"/>
              </a:defRPr>
            </a:defPPr>
          </a:lstStyle>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The linear model’s RMSE is lowest in both rows. XGBoost is only marginally better than constant in 2026; that holdout has already been explored elsewhere in the project.</a:t>
            </a:r>
          </a:p>
        </p:txBody>
      </p:sp>
    </p:spTree>
    <p:extLst>
      <p:ext uri="{BB962C8B-B14F-4D97-AF65-F5344CB8AC3E}">
        <p14:creationId xmlns:p14="http://schemas.microsoft.com/office/powerpoint/2010/main" val="362551508"/>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DE45FE-5378-4431-AF42-91627E3061E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64045"/>
          </a:solidFill>
          <a:ln xmlns:a="http://schemas.openxmlformats.org/drawingml/2006/main" w="0">
            <a:solidFill>
              <a:srgbClr val="D64045"/>
            </a:solidFill>
            <a:prstDash val="solid"/>
          </a:ln>
        </p:spPr>
      </p:sp>
      <p:sp>
        <p:nvSpPr>
          <p:cNvPr id="2" name="">
            <a:extLst xmlns:a="http://schemas.openxmlformats.org/drawingml/2006/main">
              <a:ext uri="{FF2B5EF4-FFF2-40B4-BE49-F238E27FC236}">
                <a16:creationId xmlns:a16="http://schemas.microsoft.com/office/drawing/2014/main" id="{88CEFD04-2CE4-4A17-BA1F-C76EF1809974}"/>
              </a:ext>
            </a:extLst>
          </p:cNvPr>
          <p:cNvSpPr>
            <a:spLocks xmlns:a="http://schemas.openxmlformats.org/drawingml/2006/main" noGrp="1"/>
          </p:cNvSpPr>
          <p:nvPr/>
        </p:nvSpPr>
        <p:spPr>
          <a:xfrm xmlns:a="http://schemas.openxmlformats.org/drawingml/2006/main">
            <a:off x="552450" y="304800"/>
            <a:ext cx="110490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050" b="1">
                <a:solidFill>
                  <a:srgbClr val="D64045"/>
                </a:solidFill>
                <a:latin typeface="Arial"/>
                <a:ea typeface="Arial"/>
                <a:cs typeface="Arial"/>
              </a:defRPr>
            </a:defPPr>
          </a:lstStyle>
          <a:p xmlns:a="http://schemas.openxmlformats.org/drawingml/2006/main">
            <a:pPr algn="l">
              <a:defRPr sz="1050" b="1">
                <a:solidFill>
                  <a:srgbClr val="D64045"/>
                </a:solidFill>
                <a:latin typeface="Arial"/>
                <a:ea typeface="Arial"/>
                <a:cs typeface="Arial"/>
              </a:defRPr>
            </a:pPr>
            <a:r>
              <a:rPr sz="1050" b="1">
                <a:solidFill>
                  <a:srgbClr val="D64045"/>
                </a:solidFill>
                <a:latin typeface="Arial"/>
                <a:ea typeface="Arial"/>
                <a:cs typeface="Arial"/>
              </a:rPr>
              <a:t>ALTITUDE SCENARIO</a:t>
            </a:r>
          </a:p>
        </p:txBody>
      </p:sp>
      <p:sp>
        <p:nvSpPr>
          <p:cNvPr id="3" name="">
            <a:extLst xmlns:a="http://schemas.openxmlformats.org/drawingml/2006/main">
              <a:ext uri="{FF2B5EF4-FFF2-40B4-BE49-F238E27FC236}">
                <a16:creationId xmlns:a16="http://schemas.microsoft.com/office/drawing/2014/main" id="{6318E856-8E22-4152-8AF9-83D078CC4F38}"/>
              </a:ext>
            </a:extLst>
          </p:cNvPr>
          <p:cNvSpPr>
            <a:spLocks xmlns:a="http://schemas.openxmlformats.org/drawingml/2006/main" noGrp="1"/>
          </p:cNvSpPr>
          <p:nvPr/>
        </p:nvSpPr>
        <p:spPr>
          <a:xfrm xmlns:a="http://schemas.openxmlformats.org/drawingml/2006/main">
            <a:off x="552450" y="619125"/>
            <a:ext cx="110490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2550" b="1">
                <a:solidFill>
                  <a:srgbClr val="102A43"/>
                </a:solidFill>
                <a:latin typeface="Arial"/>
                <a:ea typeface="Arial"/>
                <a:cs typeface="Arial"/>
              </a:defRPr>
            </a:defPPr>
          </a:lstStyle>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The modeled movement change lowers the projected score for each family</a:t>
            </a:r>
          </a:p>
        </p:txBody>
      </p:sp>
      <p:sp>
        <p:nvSpPr>
          <p:cNvPr id="4" name="">
            <a:extLst xmlns:a="http://schemas.openxmlformats.org/drawingml/2006/main">
              <a:ext uri="{FF2B5EF4-FFF2-40B4-BE49-F238E27FC236}">
                <a16:creationId xmlns:a16="http://schemas.microsoft.com/office/drawing/2014/main" id="{BD0AA844-8276-457B-95F1-8B6B2AACEBE5}"/>
              </a:ext>
            </a:extLst>
          </p:cNvPr>
          <p:cNvSpPr>
            <a:spLocks xmlns:a="http://schemas.openxmlformats.org/drawingml/2006/main" noGrp="1"/>
          </p:cNvSpPr>
          <p:nvPr/>
        </p:nvSpPr>
        <p:spPr>
          <a:xfrm xmlns:a="http://schemas.openxmlformats.org/drawingml/2006/main">
            <a:off x="552450" y="1171575"/>
            <a:ext cx="110490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75" b="0">
                <a:solidFill>
                  <a:srgbClr val="536471"/>
                </a:solidFill>
                <a:latin typeface="Arial"/>
                <a:ea typeface="Arial"/>
                <a:cs typeface="Arial"/>
              </a:defRPr>
            </a:defPPr>
          </a:lstStyle>
          <a:p xmlns:a="http://schemas.openxmlformats.org/drawingml/2006/main">
            <a:pPr algn="l">
              <a:defRPr sz="1275" b="0">
                <a:solidFill>
                  <a:srgbClr val="536471"/>
                </a:solidFill>
                <a:latin typeface="Arial"/>
                <a:ea typeface="Arial"/>
                <a:cs typeface="Arial"/>
              </a:defRPr>
            </a:pPr>
            <a:r>
              <a:rPr sz="1275" b="0">
                <a:solidFill>
                  <a:srgbClr val="536471"/>
                </a:solidFill>
                <a:latin typeface="Arial"/>
                <a:ea typeface="Arial"/>
                <a:cs typeface="Arial"/>
              </a:rPr>
              <a:t>Extreme-altitude vs no-altitude score delta, same pitch mix; pitch-level changes are aggregated within family.</a:t>
            </a:r>
          </a:p>
        </p:txBody>
      </p:sp>
      <p:sp>
        <p:nvSpPr>
          <p:cNvPr id="5" name="">
            <a:extLst xmlns:a="http://schemas.openxmlformats.org/drawingml/2006/main">
              <a:ext uri="{FF2B5EF4-FFF2-40B4-BE49-F238E27FC236}">
                <a16:creationId xmlns:a16="http://schemas.microsoft.com/office/drawing/2014/main" id="{7A01E9CF-05BC-45A0-B1D8-33EA9C91E5EB}"/>
              </a:ext>
            </a:extLst>
          </p:cNvPr>
          <p:cNvSpPr>
            <a:spLocks xmlns:a="http://schemas.openxmlformats.org/drawingml/2006/main" noGrp="1"/>
          </p:cNvSpPr>
          <p:nvPr/>
        </p:nvSpPr>
        <p:spPr>
          <a:xfrm xmlns:a="http://schemas.openxmlformats.org/drawingml/2006/main">
            <a:off x="552450" y="6438900"/>
            <a:ext cx="11049000" cy="9525"/>
          </a:xfrm>
          <a:prstGeom xmlns:a="http://schemas.openxmlformats.org/drawingml/2006/main" prst="rect">
            <a:avLst/>
          </a:prstGeom>
          <a:solidFill xmlns:a="http://schemas.openxmlformats.org/drawingml/2006/main">
            <a:srgbClr val="D7DEE3"/>
          </a:solidFill>
          <a:ln xmlns:a="http://schemas.openxmlformats.org/drawingml/2006/main" w="0">
            <a:solidFill>
              <a:srgbClr val="D7DEE3"/>
            </a:solidFill>
            <a:prstDash val="solid"/>
          </a:ln>
        </p:spPr>
      </p:sp>
      <p:sp>
        <p:nvSpPr>
          <p:cNvPr id="6" name="">
            <a:extLst xmlns:a="http://schemas.openxmlformats.org/drawingml/2006/main">
              <a:ext uri="{FF2B5EF4-FFF2-40B4-BE49-F238E27FC236}">
                <a16:creationId xmlns:a16="http://schemas.microsoft.com/office/drawing/2014/main" id="{FFA6332E-6FE0-4699-95FC-D69AC90FABD0}"/>
              </a:ext>
            </a:extLst>
          </p:cNvPr>
          <p:cNvSpPr>
            <a:spLocks xmlns:a="http://schemas.openxmlformats.org/drawingml/2006/main" noGrp="1"/>
          </p:cNvSpPr>
          <p:nvPr/>
        </p:nvSpPr>
        <p:spPr>
          <a:xfrm xmlns:a="http://schemas.openxmlformats.org/drawingml/2006/main">
            <a:off x="552450" y="6524625"/>
            <a:ext cx="7620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825" b="1">
                <a:solidFill>
                  <a:srgbClr val="536471"/>
                </a:solidFill>
                <a:latin typeface="Arial"/>
                <a:ea typeface="Arial"/>
                <a:cs typeface="Arial"/>
              </a:defRPr>
            </a:defPPr>
          </a:lstStyle>
          <a:p xmlns:a="http://schemas.openxmlformats.org/drawingml/2006/main">
            <a:pPr algn="l">
              <a:defRPr sz="825" b="1">
                <a:solidFill>
                  <a:srgbClr val="536471"/>
                </a:solidFill>
                <a:latin typeface="Arial"/>
                <a:ea typeface="Arial"/>
                <a:cs typeface="Arial"/>
              </a:defRPr>
            </a:pPr>
            <a:r>
              <a:rPr sz="825" b="1">
                <a:solidFill>
                  <a:srgbClr val="536471"/>
                </a:solidFill>
                <a:latin typeface="Arial"/>
                <a:ea typeface="Arial"/>
                <a:cs typeface="Arial"/>
              </a:rPr>
              <a:t>STUFF+ MODEL UPDATE  •  DIABLOS ROJOS HACKATHON</a:t>
            </a:r>
          </a:p>
        </p:txBody>
      </p:sp>
      <p:sp>
        <p:nvSpPr>
          <p:cNvPr id="7" name="">
            <a:extLst xmlns:a="http://schemas.openxmlformats.org/drawingml/2006/main">
              <a:ext uri="{FF2B5EF4-FFF2-40B4-BE49-F238E27FC236}">
                <a16:creationId xmlns:a16="http://schemas.microsoft.com/office/drawing/2014/main" id="{E5175F6C-C293-4ACB-8AA6-BB66B6C1CCF2}"/>
              </a:ext>
            </a:extLst>
          </p:cNvPr>
          <p:cNvSpPr>
            <a:spLocks xmlns:a="http://schemas.openxmlformats.org/drawingml/2006/main" noGrp="1"/>
          </p:cNvSpPr>
          <p:nvPr/>
        </p:nvSpPr>
        <p:spPr>
          <a:xfrm xmlns:a="http://schemas.openxmlformats.org/drawingml/2006/main">
            <a:off x="11096625" y="6515100"/>
            <a:ext cx="504825"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r">
              <a:defRPr sz="900" b="1">
                <a:solidFill>
                  <a:srgbClr val="536471"/>
                </a:solidFill>
                <a:latin typeface="Arial"/>
                <a:ea typeface="Arial"/>
                <a:cs typeface="Arial"/>
              </a:defRPr>
            </a:defPPr>
          </a:lstStyle>
          <a:p xmlns:a="http://schemas.openxmlformats.org/drawingml/2006/main">
            <a:pPr algn="r">
              <a:defRPr sz="900" b="1">
                <a:solidFill>
                  <a:srgbClr val="536471"/>
                </a:solidFill>
                <a:latin typeface="Arial"/>
                <a:ea typeface="Arial"/>
                <a:cs typeface="Arial"/>
              </a:defRPr>
            </a:pPr>
            <a:r>
              <a:rPr sz="900" b="1">
                <a:solidFill>
                  <a:srgbClr val="536471"/>
                </a:solidFill>
                <a:latin typeface="Arial"/>
                <a:ea typeface="Arial"/>
                <a:cs typeface="Arial"/>
              </a:rPr>
              <a:t>04</a:t>
            </a:r>
          </a:p>
        </p:txBody>
      </p:sp>
      <p:graphicFrame>
        <p:nvGraphicFramePr>
          <p:cNvPr id="8" name="">
            <a:extLst xmlns:a="http://schemas.openxmlformats.org/drawingml/2006/main">
              <a:ext uri="{FF2B5EF4-FFF2-40B4-BE49-F238E27FC236}">
                <a16:creationId xmlns:a16="http://schemas.microsoft.com/office/drawing/2014/main" id="{40E0584C-96A9-467F-9963-1964C7ED23C3}"/>
              </a:ext>
            </a:extLst>
          </p:cNvPr>
          <p:cNvGraphicFramePr/>
          <p:nvPr/>
        </p:nvGraphicFramePr>
        <p:xfrm>
          <a:off xmlns:a="http://schemas.openxmlformats.org/drawingml/2006/main" x="552450" y="1733550"/>
          <a:ext xmlns:a="http://schemas.openxmlformats.org/drawingml/2006/main" cx="11049000" cy="3238500"/>
        </p:xfrm>
        <a:graphic xmlns:a="http://schemas.openxmlformats.org/drawingml/2006/main">
          <a:graphicData uri="http://schemas.openxmlformats.org/drawingml/2006/table">
            <a:tbl>
              <a:tblPr/>
              <a:tblGrid>
                <a:gridCol w="2857500"/>
                <a:gridCol w="2095500"/>
                <a:gridCol w="2000250"/>
                <a:gridCol w="4095750"/>
              </a:tblGrid>
              <a:tr h="404813">
                <a:tc>
                  <a:txBody>
                    <a:bodyPr/>
                    <a:lstStyle/>
                    <a:p>
                      <a:r>
                        <a:rPr b="1">
                          <a:solidFill>
                            <a:srgbClr val="FFFFFF"/>
                          </a:solidFill>
                        </a:rPr>
                        <a:t>Pitch family</a:t>
                      </a:r>
                    </a:p>
                  </a:txBody>
                  <a:tcPr marL="91440" marR="91440" marT="45720" marB="45720">
                    <a:lnL w="9525">
                      <a:solidFill>
                        <a:srgbClr val="D7DEE3"/>
                      </a:solidFill>
                      <a:prstDash val="solid"/>
                    </a:lnL>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c>
                  <a:txBody>
                    <a:bodyPr/>
                    <a:lstStyle/>
                    <a:p>
                      <a:r>
                        <a:rPr b="1">
                          <a:solidFill>
                            <a:srgbClr val="FFFFFF"/>
                          </a:solidFill>
                        </a:rPr>
                        <a:t>Pitches</a:t>
                      </a:r>
                    </a:p>
                  </a:txBody>
                  <a:tcPr marL="91440" marR="91440" marT="45720" marB="45720">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c>
                  <a:txBody>
                    <a:bodyPr/>
                    <a:lstStyle/>
                    <a:p>
                      <a:r>
                        <a:rPr b="1">
                          <a:solidFill>
                            <a:srgbClr val="FFFFFF"/>
                          </a:solidFill>
                        </a:rPr>
                        <a:t>Δ Stuff+</a:t>
                      </a:r>
                    </a:p>
                  </a:txBody>
                  <a:tcPr marL="91440" marR="91440" marT="45720" marB="45720">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c>
                  <a:txBody>
                    <a:bodyPr/>
                    <a:lstStyle/>
                    <a:p>
                      <a:r>
                        <a:rPr b="1">
                          <a:solidFill>
                            <a:srgbClr val="FFFFFF"/>
                          </a:solidFill>
                        </a:rPr>
                        <a:t>95% game-bootstrap interval</a:t>
                      </a:r>
                    </a:p>
                  </a:txBody>
                  <a:tcPr marL="91440" marR="91440" marT="45720" marB="45720">
                    <a:lnR w="9525">
                      <a:solidFill>
                        <a:srgbClr val="D7DEE3"/>
                      </a:solidFill>
                      <a:prstDash val="solid"/>
                    </a:lnR>
                    <a:lnT w="9525">
                      <a:solidFill>
                        <a:srgbClr val="D7DEE3"/>
                      </a:solidFill>
                      <a:prstDash val="solid"/>
                    </a:lnT>
                    <a:lnB w="9525">
                      <a:solidFill>
                        <a:srgbClr val="D7DEE3"/>
                      </a:solidFill>
                      <a:prstDash val="solid"/>
                    </a:lnB>
                    <a:solidFill>
                      <a:srgbClr val="102A43"/>
                    </a:solidFill>
                  </a:tcPr>
                </a:tc>
              </a:tr>
              <a:tr h="404813">
                <a:tc>
                  <a:txBody>
                    <a:bodyPr/>
                    <a:lstStyle/>
                    <a:p>
                      <a:r>
                        <a:t>Four-Seam</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FFFFF"/>
                    </a:solidFill>
                  </a:tcPr>
                </a:tc>
                <a:tc>
                  <a:txBody>
                    <a:bodyPr/>
                    <a:lstStyle/>
                    <a:p>
                      <a:r>
                        <a:t>212,543</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rPr b="1">
                          <a:solidFill>
                            <a:srgbClr val="D64045"/>
                          </a:solidFill>
                        </a:rPr>
                        <a:t>−9.14</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t>−9.23 to −9.05</a:t>
                      </a:r>
                    </a:p>
                  </a:txBody>
                  <a:tcPr marL="91440" marR="91440" marT="45720" marB="45720">
                    <a:lnR w="9525">
                      <a:solidFill>
                        <a:srgbClr val="D7DEE3"/>
                      </a:solidFill>
                      <a:prstDash val="solid"/>
                    </a:lnR>
                    <a:lnB w="9525">
                      <a:solidFill>
                        <a:srgbClr val="D7DEE3"/>
                      </a:solidFill>
                      <a:prstDash val="solid"/>
                    </a:lnB>
                    <a:solidFill>
                      <a:srgbClr val="FFFFFF"/>
                    </a:solidFill>
                  </a:tcPr>
                </a:tc>
              </a:tr>
              <a:tr h="404813">
                <a:tc>
                  <a:txBody>
                    <a:bodyPr/>
                    <a:lstStyle/>
                    <a:p>
                      <a:r>
                        <a:t>Sinker</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0F3F5"/>
                    </a:solidFill>
                  </a:tcPr>
                </a:tc>
                <a:tc>
                  <a:txBody>
                    <a:bodyPr/>
                    <a:lstStyle/>
                    <a:p>
                      <a:r>
                        <a:t>108,300</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rPr b="1">
                          <a:solidFill>
                            <a:srgbClr val="D64045"/>
                          </a:solidFill>
                        </a:rPr>
                        <a:t>−5.98</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t>−6.07 to −5.87</a:t>
                      </a:r>
                    </a:p>
                  </a:txBody>
                  <a:tcPr marL="91440" marR="91440" marT="45720" marB="45720">
                    <a:lnR w="9525">
                      <a:solidFill>
                        <a:srgbClr val="D7DEE3"/>
                      </a:solidFill>
                      <a:prstDash val="solid"/>
                    </a:lnR>
                    <a:lnB w="9525">
                      <a:solidFill>
                        <a:srgbClr val="D7DEE3"/>
                      </a:solidFill>
                      <a:prstDash val="solid"/>
                    </a:lnB>
                    <a:solidFill>
                      <a:srgbClr val="F0F3F5"/>
                    </a:solidFill>
                  </a:tcPr>
                </a:tc>
              </a:tr>
              <a:tr h="404813">
                <a:tc>
                  <a:txBody>
                    <a:bodyPr/>
                    <a:lstStyle/>
                    <a:p>
                      <a:r>
                        <a:t>Changeup</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FFFFF"/>
                    </a:solidFill>
                  </a:tcPr>
                </a:tc>
                <a:tc>
                  <a:txBody>
                    <a:bodyPr/>
                    <a:lstStyle/>
                    <a:p>
                      <a:r>
                        <a:t>76,382</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rPr b="1">
                          <a:solidFill>
                            <a:srgbClr val="D64045"/>
                          </a:solidFill>
                        </a:rPr>
                        <a:t>−3.79</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t>−3.87 to −3.69</a:t>
                      </a:r>
                    </a:p>
                  </a:txBody>
                  <a:tcPr marL="91440" marR="91440" marT="45720" marB="45720">
                    <a:lnR w="9525">
                      <a:solidFill>
                        <a:srgbClr val="D7DEE3"/>
                      </a:solidFill>
                      <a:prstDash val="solid"/>
                    </a:lnR>
                    <a:lnB w="9525">
                      <a:solidFill>
                        <a:srgbClr val="D7DEE3"/>
                      </a:solidFill>
                      <a:prstDash val="solid"/>
                    </a:lnB>
                    <a:solidFill>
                      <a:srgbClr val="FFFFFF"/>
                    </a:solidFill>
                  </a:tcPr>
                </a:tc>
              </a:tr>
              <a:tr h="404813">
                <a:tc>
                  <a:txBody>
                    <a:bodyPr/>
                    <a:lstStyle/>
                    <a:p>
                      <a:r>
                        <a:t>Curveball</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0F3F5"/>
                    </a:solidFill>
                  </a:tcPr>
                </a:tc>
                <a:tc>
                  <a:txBody>
                    <a:bodyPr/>
                    <a:lstStyle/>
                    <a:p>
                      <a:r>
                        <a:t>52,267</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rPr b="1">
                          <a:solidFill>
                            <a:srgbClr val="D64045"/>
                          </a:solidFill>
                        </a:rPr>
                        <a:t>−2.21</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t>−2.28 to −2.14</a:t>
                      </a:r>
                    </a:p>
                  </a:txBody>
                  <a:tcPr marL="91440" marR="91440" marT="45720" marB="45720">
                    <a:lnR w="9525">
                      <a:solidFill>
                        <a:srgbClr val="D7DEE3"/>
                      </a:solidFill>
                      <a:prstDash val="solid"/>
                    </a:lnR>
                    <a:lnB w="9525">
                      <a:solidFill>
                        <a:srgbClr val="D7DEE3"/>
                      </a:solidFill>
                      <a:prstDash val="solid"/>
                    </a:lnB>
                    <a:solidFill>
                      <a:srgbClr val="F0F3F5"/>
                    </a:solidFill>
                  </a:tcPr>
                </a:tc>
              </a:tr>
              <a:tr h="404813">
                <a:tc>
                  <a:txBody>
                    <a:bodyPr/>
                    <a:lstStyle/>
                    <a:p>
                      <a:r>
                        <a:t>Slider</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FFFFF"/>
                    </a:solidFill>
                  </a:tcPr>
                </a:tc>
                <a:tc>
                  <a:txBody>
                    <a:bodyPr/>
                    <a:lstStyle/>
                    <a:p>
                      <a:r>
                        <a:t>132,432</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rPr b="1">
                          <a:solidFill>
                            <a:srgbClr val="D64045"/>
                          </a:solidFill>
                        </a:rPr>
                        <a:t>−1.56</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t>−1.61 to −1.52</a:t>
                      </a:r>
                    </a:p>
                  </a:txBody>
                  <a:tcPr marL="91440" marR="91440" marT="45720" marB="45720">
                    <a:lnR w="9525">
                      <a:solidFill>
                        <a:srgbClr val="D7DEE3"/>
                      </a:solidFill>
                      <a:prstDash val="solid"/>
                    </a:lnR>
                    <a:lnB w="9525">
                      <a:solidFill>
                        <a:srgbClr val="D7DEE3"/>
                      </a:solidFill>
                      <a:prstDash val="solid"/>
                    </a:lnB>
                    <a:solidFill>
                      <a:srgbClr val="FFFFFF"/>
                    </a:solidFill>
                  </a:tcPr>
                </a:tc>
              </a:tr>
              <a:tr h="404813">
                <a:tc>
                  <a:txBody>
                    <a:bodyPr/>
                    <a:lstStyle/>
                    <a:p>
                      <a:r>
                        <a:t>Cutter</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0F3F5"/>
                    </a:solidFill>
                  </a:tcPr>
                </a:tc>
                <a:tc>
                  <a:txBody>
                    <a:bodyPr/>
                    <a:lstStyle/>
                    <a:p>
                      <a:r>
                        <a:t>25,954</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rPr b="1">
                          <a:solidFill>
                            <a:srgbClr val="D64045"/>
                          </a:solidFill>
                        </a:rPr>
                        <a:t>−1.10</a:t>
                      </a:r>
                    </a:p>
                  </a:txBody>
                  <a:tcPr marL="91440" marR="91440" marT="45720" marB="45720">
                    <a:lnR w="9525">
                      <a:solidFill>
                        <a:srgbClr val="D7DEE3"/>
                      </a:solidFill>
                      <a:prstDash val="solid"/>
                    </a:lnR>
                    <a:lnB w="9525">
                      <a:solidFill>
                        <a:srgbClr val="D7DEE3"/>
                      </a:solidFill>
                      <a:prstDash val="solid"/>
                    </a:lnB>
                    <a:solidFill>
                      <a:srgbClr val="F0F3F5"/>
                    </a:solidFill>
                  </a:tcPr>
                </a:tc>
                <a:tc>
                  <a:txBody>
                    <a:bodyPr/>
                    <a:lstStyle/>
                    <a:p>
                      <a:r>
                        <a:t>−1.18 to −1.03</a:t>
                      </a:r>
                    </a:p>
                  </a:txBody>
                  <a:tcPr marL="91440" marR="91440" marT="45720" marB="45720">
                    <a:lnR w="9525">
                      <a:solidFill>
                        <a:srgbClr val="D7DEE3"/>
                      </a:solidFill>
                      <a:prstDash val="solid"/>
                    </a:lnR>
                    <a:lnB w="9525">
                      <a:solidFill>
                        <a:srgbClr val="D7DEE3"/>
                      </a:solidFill>
                      <a:prstDash val="solid"/>
                    </a:lnB>
                    <a:solidFill>
                      <a:srgbClr val="F0F3F5"/>
                    </a:solidFill>
                  </a:tcPr>
                </a:tc>
              </a:tr>
              <a:tr h="404813">
                <a:tc>
                  <a:txBody>
                    <a:bodyPr/>
                    <a:lstStyle/>
                    <a:p>
                      <a:r>
                        <a:t>Splitter</a:t>
                      </a:r>
                    </a:p>
                  </a:txBody>
                  <a:tcPr marL="91440" marR="91440" marT="45720" marB="45720">
                    <a:lnL w="9525">
                      <a:solidFill>
                        <a:srgbClr val="D7DEE3"/>
                      </a:solidFill>
                      <a:prstDash val="solid"/>
                    </a:lnL>
                    <a:lnR w="9525">
                      <a:solidFill>
                        <a:srgbClr val="D7DEE3"/>
                      </a:solidFill>
                      <a:prstDash val="solid"/>
                    </a:lnR>
                    <a:lnB w="9525">
                      <a:solidFill>
                        <a:srgbClr val="D7DEE3"/>
                      </a:solidFill>
                      <a:prstDash val="solid"/>
                    </a:lnB>
                    <a:solidFill>
                      <a:srgbClr val="FFFFFF"/>
                    </a:solidFill>
                  </a:tcPr>
                </a:tc>
                <a:tc>
                  <a:txBody>
                    <a:bodyPr/>
                    <a:lstStyle/>
                    <a:p>
                      <a:r>
                        <a:t>7,174</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rPr b="1">
                          <a:solidFill>
                            <a:srgbClr val="D64045"/>
                          </a:solidFill>
                        </a:rPr>
                        <a:t>−1.90</a:t>
                      </a:r>
                    </a:p>
                  </a:txBody>
                  <a:tcPr marL="91440" marR="91440" marT="45720" marB="45720">
                    <a:lnR w="9525">
                      <a:solidFill>
                        <a:srgbClr val="D7DEE3"/>
                      </a:solidFill>
                      <a:prstDash val="solid"/>
                    </a:lnR>
                    <a:lnB w="9525">
                      <a:solidFill>
                        <a:srgbClr val="D7DEE3"/>
                      </a:solidFill>
                      <a:prstDash val="solid"/>
                    </a:lnB>
                    <a:solidFill>
                      <a:srgbClr val="FFFFFF"/>
                    </a:solidFill>
                  </a:tcPr>
                </a:tc>
                <a:tc>
                  <a:txBody>
                    <a:bodyPr/>
                    <a:lstStyle/>
                    <a:p>
                      <a:r>
                        <a:t>−2.06 to −1.77</a:t>
                      </a:r>
                    </a:p>
                  </a:txBody>
                  <a:tcPr marL="91440" marR="91440" marT="45720" marB="45720">
                    <a:lnR w="9525">
                      <a:solidFill>
                        <a:srgbClr val="D7DEE3"/>
                      </a:solidFill>
                      <a:prstDash val="solid"/>
                    </a:lnR>
                    <a:lnB w="9525">
                      <a:solidFill>
                        <a:srgbClr val="D7DEE3"/>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CCB0778F-4EC5-4E5F-AFDE-49F022496090}"/>
              </a:ext>
            </a:extLst>
          </p:cNvPr>
          <p:cNvSpPr>
            <a:spLocks xmlns:a="http://schemas.openxmlformats.org/drawingml/2006/main" noGrp="1"/>
          </p:cNvSpPr>
          <p:nvPr/>
        </p:nvSpPr>
        <p:spPr>
          <a:xfrm xmlns:a="http://schemas.openxmlformats.org/drawingml/2006/main">
            <a:off x="552450" y="5219700"/>
            <a:ext cx="11049000" cy="876300"/>
          </a:xfrm>
          <a:prstGeom xmlns:a="http://schemas.openxmlformats.org/drawingml/2006/main" prst="roundRect">
            <a:avLst>
              <a:gd name="adj" fmla="val 13043"/>
            </a:avLst>
          </a:prstGeom>
          <a:solidFill xmlns:a="http://schemas.openxmlformats.org/drawingml/2006/main">
            <a:srgbClr val="F4E8E5"/>
          </a:solidFill>
          <a:ln xmlns:a="http://schemas.openxmlformats.org/drawingml/2006/main" w="0">
            <a:solidFill>
              <a:srgbClr val="F4E8E5"/>
            </a:solidFill>
            <a:prstDash val="solid"/>
          </a:ln>
        </p:spPr>
      </p:sp>
      <p:sp>
        <p:nvSpPr>
          <p:cNvPr id="10" name="">
            <a:extLst xmlns:a="http://schemas.openxmlformats.org/drawingml/2006/main">
              <a:ext uri="{FF2B5EF4-FFF2-40B4-BE49-F238E27FC236}">
                <a16:creationId xmlns:a16="http://schemas.microsoft.com/office/drawing/2014/main" id="{0661D70F-071B-4858-9249-CF0CB943AC19}"/>
              </a:ext>
            </a:extLst>
          </p:cNvPr>
          <p:cNvSpPr>
            <a:spLocks xmlns:a="http://schemas.openxmlformats.org/drawingml/2006/main" noGrp="1"/>
          </p:cNvSpPr>
          <p:nvPr/>
        </p:nvSpPr>
        <p:spPr>
          <a:xfrm xmlns:a="http://schemas.openxmlformats.org/drawingml/2006/main">
            <a:off x="762000" y="5343525"/>
            <a:ext cx="2190750"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975" b="1">
                <a:solidFill>
                  <a:srgbClr val="D64045"/>
                </a:solidFill>
                <a:latin typeface="Arial"/>
                <a:ea typeface="Arial"/>
                <a:cs typeface="Arial"/>
              </a:defRPr>
            </a:defPPr>
          </a:lstStyle>
          <a:p xmlns:a="http://schemas.openxmlformats.org/drawingml/2006/main">
            <a:pPr algn="l">
              <a:defRPr sz="975" b="1">
                <a:solidFill>
                  <a:srgbClr val="D64045"/>
                </a:solidFill>
                <a:latin typeface="Arial"/>
                <a:ea typeface="Arial"/>
                <a:cs typeface="Arial"/>
              </a:defRPr>
            </a:pPr>
            <a:r>
              <a:rPr sz="975" b="1">
                <a:solidFill>
                  <a:srgbClr val="D64045"/>
                </a:solidFill>
                <a:latin typeface="Arial"/>
                <a:ea typeface="Arial"/>
                <a:cs typeface="Arial"/>
              </a:rPr>
              <a:t>HOW TO PRESENT THIS</a:t>
            </a:r>
          </a:p>
        </p:txBody>
      </p:sp>
      <p:sp>
        <p:nvSpPr>
          <p:cNvPr id="11" name="">
            <a:extLst xmlns:a="http://schemas.openxmlformats.org/drawingml/2006/main">
              <a:ext uri="{FF2B5EF4-FFF2-40B4-BE49-F238E27FC236}">
                <a16:creationId xmlns:a16="http://schemas.microsoft.com/office/drawing/2014/main" id="{97725E03-4127-4039-B7F4-9B46436B597B}"/>
              </a:ext>
            </a:extLst>
          </p:cNvPr>
          <p:cNvSpPr>
            <a:spLocks xmlns:a="http://schemas.openxmlformats.org/drawingml/2006/main" noGrp="1"/>
          </p:cNvSpPr>
          <p:nvPr/>
        </p:nvSpPr>
        <p:spPr>
          <a:xfrm xmlns:a="http://schemas.openxmlformats.org/drawingml/2006/main">
            <a:off x="762000" y="5600700"/>
            <a:ext cx="10572750" cy="3810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defPPr algn="l">
              <a:defRPr sz="1200" b="1">
                <a:solidFill>
                  <a:srgbClr val="102A43"/>
                </a:solidFill>
                <a:latin typeface="Arial"/>
                <a:ea typeface="Arial"/>
                <a:cs typeface="Arial"/>
              </a:defRPr>
            </a:defPPr>
          </a:lstStyle>
          <a:p xmlns:a="http://schemas.openxmlformats.org/drawingml/2006/main">
            <a:pPr algn="l">
              <a:defRPr sz="1200" b="1">
                <a:solidFill>
                  <a:srgbClr val="102A43"/>
                </a:solidFill>
                <a:latin typeface="Arial"/>
                <a:ea typeface="Arial"/>
                <a:cs typeface="Arial"/>
              </a:defRPr>
            </a:pPr>
            <a:r>
              <a:rPr sz="1200" b="1">
                <a:solidFill>
                  <a:srgbClr val="102A43"/>
                </a:solidFill>
                <a:latin typeface="Arial"/>
                <a:ea typeface="Arial"/>
                <a:cs typeface="Arial"/>
              </a:rPr>
              <a:t>These are modeled, observational projections—not causal altitude effects or park-specific guarantees. Next: test stronger linear/tree baselines, improve movement portability checks, then build the coach-facing scenario dashboard.</a:t>
            </a:r>
          </a:p>
        </p:txBody>
      </p:sp>
    </p:spTree>
    <p:extLst>
      <p:ext uri="{BB962C8B-B14F-4D97-AF65-F5344CB8AC3E}">
        <p14:creationId xmlns:p14="http://schemas.microsoft.com/office/powerpoint/2010/main" val="1296177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2026-10-16T06:52:34.7540000Z</dcterms:created>
  <dcterms:modified xsi:type="dcterms:W3CDTF">2026-10-16T06:52:34.7540000Z</dcterms:modified>
</coreProperties>
</file>